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3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2.png"/><Relationship Id="rId7" Type="http://schemas.openxmlformats.org/officeDocument/2006/relationships/image" Target="../media/image2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4.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2.png"/><Relationship Id="rId7" Type="http://schemas.openxmlformats.org/officeDocument/2006/relationships/image" Target="../media/image45.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png"/><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3133" y="-27534"/>
            <a:ext cx="12192000" cy="6858000"/>
          </a:xfrm>
          <a:prstGeom prst="rect">
            <a:avLst/>
          </a:prstGeom>
        </p:spPr>
      </p:pic>
      <p:pic>
        <p:nvPicPr>
          <p:cNvPr id="3" name="Picture 2" descr="image.png"/>
          <p:cNvPicPr>
            <a:picLocks noChangeAspect="1"/>
          </p:cNvPicPr>
          <p:nvPr/>
        </p:nvPicPr>
        <p:blipFill>
          <a:blip r:embed="rId3"/>
          <a:stretch>
            <a:fillRect/>
          </a:stretch>
        </p:blipFill>
        <p:spPr>
          <a:xfrm>
            <a:off x="2047875" y="3401466"/>
            <a:ext cx="8096250" cy="532358"/>
          </a:xfrm>
          <a:prstGeom prst="rect">
            <a:avLst/>
          </a:prstGeom>
        </p:spPr>
      </p:pic>
      <p:pic>
        <p:nvPicPr>
          <p:cNvPr id="4" name="Picture 3" descr="image.png"/>
          <p:cNvPicPr>
            <a:picLocks noChangeAspect="1"/>
          </p:cNvPicPr>
          <p:nvPr/>
        </p:nvPicPr>
        <p:blipFill>
          <a:blip r:embed="rId4"/>
          <a:stretch>
            <a:fillRect/>
          </a:stretch>
        </p:blipFill>
        <p:spPr>
          <a:xfrm>
            <a:off x="1571625" y="4200525"/>
            <a:ext cx="9048750" cy="851445"/>
          </a:xfrm>
          <a:prstGeom prst="rect">
            <a:avLst/>
          </a:prstGeom>
        </p:spPr>
      </p:pic>
      <p:pic>
        <p:nvPicPr>
          <p:cNvPr id="5" name="Picture 4" descr="image.png"/>
          <p:cNvPicPr>
            <a:picLocks noChangeAspect="1"/>
          </p:cNvPicPr>
          <p:nvPr/>
        </p:nvPicPr>
        <p:blipFill>
          <a:blip r:embed="rId5"/>
          <a:stretch>
            <a:fillRect/>
          </a:stretch>
        </p:blipFill>
        <p:spPr>
          <a:xfrm>
            <a:off x="533400" y="6438900"/>
            <a:ext cx="11125200" cy="247650"/>
          </a:xfrm>
          <a:prstGeom prst="rect">
            <a:avLst/>
          </a:prstGeom>
        </p:spPr>
      </p:pic>
      <p:sp>
        <p:nvSpPr>
          <p:cNvPr id="6" name="TextBox 5"/>
          <p:cNvSpPr txBox="1"/>
          <p:nvPr/>
        </p:nvSpPr>
        <p:spPr>
          <a:xfrm>
            <a:off x="9020175" y="481012"/>
            <a:ext cx="2638425" cy="152400"/>
          </a:xfrm>
          <a:prstGeom prst="rect">
            <a:avLst/>
          </a:prstGeom>
          <a:noFill/>
        </p:spPr>
        <p:txBody>
          <a:bodyPr wrap="square" lIns="0" tIns="0" rIns="0" bIns="0" anchor="t">
            <a:spAutoFit/>
          </a:bodyPr>
          <a:lstStyle/>
          <a:p>
            <a:pPr algn="l"/>
            <a:r>
              <a:rPr sz="975" b="0" i="0" u="none">
                <a:solidFill>
                  <a:srgbClr val="64748B"/>
                </a:solidFill>
                <a:latin typeface="Inter SemiBold"/>
              </a:rPr>
              <a:t>GUJARAT TECHNOLOGICAL UNIVERSITY</a:t>
            </a:r>
          </a:p>
        </p:txBody>
      </p:sp>
      <p:pic>
        <p:nvPicPr>
          <p:cNvPr id="7" name="Picture 6" descr="image.png"/>
          <p:cNvPicPr>
            <a:picLocks noChangeAspect="1"/>
          </p:cNvPicPr>
          <p:nvPr/>
        </p:nvPicPr>
        <p:blipFill>
          <a:blip r:embed="rId6"/>
          <a:stretch>
            <a:fillRect/>
          </a:stretch>
        </p:blipFill>
        <p:spPr>
          <a:xfrm>
            <a:off x="4238625" y="2396579"/>
            <a:ext cx="3714750" cy="247650"/>
          </a:xfrm>
          <a:prstGeom prst="rect">
            <a:avLst/>
          </a:prstGeom>
        </p:spPr>
      </p:pic>
      <p:sp>
        <p:nvSpPr>
          <p:cNvPr id="8" name="TextBox 7"/>
          <p:cNvSpPr txBox="1"/>
          <p:nvPr/>
        </p:nvSpPr>
        <p:spPr>
          <a:xfrm>
            <a:off x="1705451" y="2796629"/>
            <a:ext cx="8781097" cy="452437"/>
          </a:xfrm>
          <a:prstGeom prst="rect">
            <a:avLst/>
          </a:prstGeom>
          <a:noFill/>
        </p:spPr>
        <p:txBody>
          <a:bodyPr wrap="square" lIns="0" tIns="0" rIns="0" bIns="0" anchor="t">
            <a:spAutoFit/>
          </a:bodyPr>
          <a:lstStyle/>
          <a:p>
            <a:pPr algn="ctr">
              <a:lnSpc>
                <a:spcPts val="3562"/>
              </a:lnSpc>
            </a:pPr>
            <a:r>
              <a:rPr sz="2850" b="0" i="0" u="none" dirty="0">
                <a:solidFill>
                  <a:srgbClr val="0F2B5C"/>
                </a:solidFill>
                <a:latin typeface="Plus Jakarta Sans ExtraBold"/>
              </a:rPr>
              <a:t>AI-Powered Investigation &amp; Incident Response</a:t>
            </a:r>
          </a:p>
        </p:txBody>
      </p:sp>
      <p:sp>
        <p:nvSpPr>
          <p:cNvPr id="9" name="TextBox 8"/>
          <p:cNvSpPr txBox="1"/>
          <p:nvPr/>
        </p:nvSpPr>
        <p:spPr>
          <a:xfrm>
            <a:off x="533400" y="6543675"/>
            <a:ext cx="971550" cy="142875"/>
          </a:xfrm>
          <a:prstGeom prst="rect">
            <a:avLst/>
          </a:prstGeom>
          <a:noFill/>
        </p:spPr>
        <p:txBody>
          <a:bodyPr wrap="square" lIns="0" tIns="0" rIns="0" bIns="0" anchor="t">
            <a:spAutoFit/>
          </a:bodyPr>
          <a:lstStyle/>
          <a:p>
            <a:pPr algn="l"/>
            <a:r>
              <a:rPr sz="900" b="0" i="0" u="none">
                <a:solidFill>
                  <a:srgbClr val="64748B"/>
                </a:solidFill>
                <a:latin typeface="Inter"/>
              </a:rPr>
              <a:t>Final Presentation</a:t>
            </a:r>
          </a:p>
        </p:txBody>
      </p:sp>
      <p:sp>
        <p:nvSpPr>
          <p:cNvPr id="10" name="TextBox 9"/>
          <p:cNvSpPr txBox="1"/>
          <p:nvPr/>
        </p:nvSpPr>
        <p:spPr>
          <a:xfrm>
            <a:off x="5119687" y="6543675"/>
            <a:ext cx="809625" cy="142875"/>
          </a:xfrm>
          <a:prstGeom prst="rect">
            <a:avLst/>
          </a:prstGeom>
          <a:noFill/>
        </p:spPr>
        <p:txBody>
          <a:bodyPr wrap="square" lIns="0" tIns="0" rIns="0" bIns="0" anchor="t">
            <a:spAutoFit/>
          </a:bodyPr>
          <a:lstStyle/>
          <a:p>
            <a:pPr algn="l"/>
            <a:r>
              <a:rPr sz="900" b="0" i="0" u="none">
                <a:solidFill>
                  <a:srgbClr val="64748B"/>
                </a:solidFill>
                <a:latin typeface="Inter"/>
              </a:rPr>
              <a:t>24th July 2026</a:t>
            </a:r>
          </a:p>
        </p:txBody>
      </p:sp>
      <p:sp>
        <p:nvSpPr>
          <p:cNvPr id="11" name="TextBox 10"/>
          <p:cNvSpPr txBox="1"/>
          <p:nvPr/>
        </p:nvSpPr>
        <p:spPr>
          <a:xfrm>
            <a:off x="9544050" y="6543675"/>
            <a:ext cx="2114550"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 (GTU)</a:t>
            </a:r>
          </a:p>
        </p:txBody>
      </p:sp>
      <p:pic>
        <p:nvPicPr>
          <p:cNvPr id="12" name="Picture 11" descr="image.png"/>
          <p:cNvPicPr>
            <a:picLocks noChangeAspect="1"/>
          </p:cNvPicPr>
          <p:nvPr/>
        </p:nvPicPr>
        <p:blipFill>
          <a:blip r:embed="rId7"/>
          <a:stretch>
            <a:fillRect/>
          </a:stretch>
        </p:blipFill>
        <p:spPr>
          <a:xfrm>
            <a:off x="533400" y="419100"/>
            <a:ext cx="738187" cy="276225"/>
          </a:xfrm>
          <a:prstGeom prst="rect">
            <a:avLst/>
          </a:prstGeom>
        </p:spPr>
      </p:pic>
      <p:pic>
        <p:nvPicPr>
          <p:cNvPr id="13" name="Picture 12" descr="image.png"/>
          <p:cNvPicPr>
            <a:picLocks noChangeAspect="1"/>
          </p:cNvPicPr>
          <p:nvPr/>
        </p:nvPicPr>
        <p:blipFill>
          <a:blip r:embed="rId8"/>
          <a:stretch>
            <a:fillRect/>
          </a:stretch>
        </p:blipFill>
        <p:spPr>
          <a:xfrm>
            <a:off x="1404937" y="423862"/>
            <a:ext cx="1685925" cy="266700"/>
          </a:xfrm>
          <a:prstGeom prst="rect">
            <a:avLst/>
          </a:prstGeom>
        </p:spPr>
      </p:pic>
      <p:sp>
        <p:nvSpPr>
          <p:cNvPr id="14" name="TextBox 13"/>
          <p:cNvSpPr txBox="1"/>
          <p:nvPr/>
        </p:nvSpPr>
        <p:spPr>
          <a:xfrm>
            <a:off x="2333625" y="3534816"/>
            <a:ext cx="7524750" cy="247697"/>
          </a:xfrm>
          <a:prstGeom prst="rect">
            <a:avLst/>
          </a:prstGeom>
          <a:noFill/>
        </p:spPr>
        <p:txBody>
          <a:bodyPr wrap="square" lIns="266700" tIns="0" rIns="0" bIns="0" anchor="t">
            <a:spAutoFit/>
          </a:bodyPr>
          <a:lstStyle/>
          <a:p>
            <a:pPr algn="ctr">
              <a:lnSpc>
                <a:spcPts val="2092"/>
              </a:lnSpc>
            </a:pPr>
            <a:r>
              <a:rPr sz="1350" b="1" i="0" u="none" dirty="0">
                <a:solidFill>
                  <a:srgbClr val="1E293B"/>
                </a:solidFill>
                <a:latin typeface="Inter"/>
              </a:rPr>
              <a:t>PROJECT TITLE: [ </a:t>
            </a:r>
            <a:r>
              <a:rPr lang="en-IN" sz="1350" b="1" dirty="0">
                <a:solidFill>
                  <a:srgbClr val="1E293B"/>
                </a:solidFill>
                <a:latin typeface="Inter"/>
              </a:rPr>
              <a:t>ANISAS </a:t>
            </a:r>
            <a:r>
              <a:rPr sz="1350" b="1" i="0" u="none" dirty="0">
                <a:solidFill>
                  <a:srgbClr val="1E293B"/>
                </a:solidFill>
                <a:latin typeface="Inter"/>
              </a:rPr>
              <a:t> ]</a:t>
            </a:r>
          </a:p>
        </p:txBody>
      </p:sp>
      <p:pic>
        <p:nvPicPr>
          <p:cNvPr id="15" name="Picture 14" descr="image.png"/>
          <p:cNvPicPr>
            <a:picLocks noChangeAspect="1"/>
          </p:cNvPicPr>
          <p:nvPr/>
        </p:nvPicPr>
        <p:blipFill>
          <a:blip r:embed="rId9"/>
          <a:stretch>
            <a:fillRect/>
          </a:stretch>
        </p:blipFill>
        <p:spPr>
          <a:xfrm>
            <a:off x="562741" y="477837"/>
            <a:ext cx="169918" cy="128587"/>
          </a:xfrm>
          <a:prstGeom prst="rect">
            <a:avLst/>
          </a:prstGeom>
        </p:spPr>
      </p:pic>
      <p:pic>
        <p:nvPicPr>
          <p:cNvPr id="16" name="Picture 15" descr="image.png"/>
          <p:cNvPicPr>
            <a:picLocks noChangeAspect="1"/>
          </p:cNvPicPr>
          <p:nvPr/>
        </p:nvPicPr>
        <p:blipFill>
          <a:blip r:embed="rId10"/>
          <a:stretch>
            <a:fillRect/>
          </a:stretch>
        </p:blipFill>
        <p:spPr>
          <a:xfrm>
            <a:off x="1447800" y="509587"/>
            <a:ext cx="123825" cy="123825"/>
          </a:xfrm>
          <a:prstGeom prst="rect">
            <a:avLst/>
          </a:prstGeom>
        </p:spPr>
      </p:pic>
      <p:pic>
        <p:nvPicPr>
          <p:cNvPr id="17" name="Picture 16" descr="image.png"/>
          <p:cNvPicPr>
            <a:picLocks noChangeAspect="1"/>
          </p:cNvPicPr>
          <p:nvPr/>
        </p:nvPicPr>
        <p:blipFill>
          <a:blip r:embed="rId11"/>
          <a:stretch>
            <a:fillRect/>
          </a:stretch>
        </p:blipFill>
        <p:spPr>
          <a:xfrm>
            <a:off x="3924300" y="3582441"/>
            <a:ext cx="190500" cy="171450"/>
          </a:xfrm>
          <a:prstGeom prst="rect">
            <a:avLst/>
          </a:prstGeom>
        </p:spPr>
      </p:pic>
      <p:sp>
        <p:nvSpPr>
          <p:cNvPr id="18" name="TextBox 17"/>
          <p:cNvSpPr txBox="1"/>
          <p:nvPr/>
        </p:nvSpPr>
        <p:spPr>
          <a:xfrm>
            <a:off x="1771650" y="4400550"/>
            <a:ext cx="2755850" cy="177105"/>
          </a:xfrm>
          <a:prstGeom prst="rect">
            <a:avLst/>
          </a:prstGeom>
          <a:noFill/>
        </p:spPr>
        <p:txBody>
          <a:bodyPr wrap="square" lIns="0" tIns="0" rIns="0" bIns="0" anchor="t">
            <a:spAutoFit/>
          </a:bodyPr>
          <a:lstStyle/>
          <a:p>
            <a:pPr algn="ctr">
              <a:lnSpc>
                <a:spcPts val="1395"/>
              </a:lnSpc>
            </a:pPr>
            <a:r>
              <a:rPr sz="900" b="1" i="0" u="none">
                <a:solidFill>
                  <a:srgbClr val="64748B"/>
                </a:solidFill>
                <a:latin typeface="Inter"/>
              </a:rPr>
              <a:t>TEAM NAME</a:t>
            </a:r>
          </a:p>
        </p:txBody>
      </p:sp>
      <p:sp>
        <p:nvSpPr>
          <p:cNvPr id="19" name="TextBox 18"/>
          <p:cNvSpPr txBox="1"/>
          <p:nvPr/>
        </p:nvSpPr>
        <p:spPr>
          <a:xfrm>
            <a:off x="1771650" y="4615755"/>
            <a:ext cx="2755850" cy="223394"/>
          </a:xfrm>
          <a:prstGeom prst="rect">
            <a:avLst/>
          </a:prstGeom>
          <a:noFill/>
        </p:spPr>
        <p:txBody>
          <a:bodyPr wrap="square" lIns="0" tIns="0" rIns="0" bIns="0" anchor="t">
            <a:spAutoFit/>
          </a:bodyPr>
          <a:lstStyle/>
          <a:p>
            <a:pPr algn="ctr">
              <a:lnSpc>
                <a:spcPts val="1860"/>
              </a:lnSpc>
            </a:pPr>
            <a:r>
              <a:rPr sz="1200" b="1" i="0" u="none" dirty="0">
                <a:solidFill>
                  <a:srgbClr val="0F2B5C"/>
                </a:solidFill>
                <a:latin typeface="Inter"/>
              </a:rPr>
              <a:t>[ </a:t>
            </a:r>
            <a:r>
              <a:rPr lang="en-IN" sz="1200" b="1" i="0" u="none" dirty="0">
                <a:solidFill>
                  <a:srgbClr val="0F2B5C"/>
                </a:solidFill>
                <a:latin typeface="Inter"/>
              </a:rPr>
              <a:t>The Midnight Malwar</a:t>
            </a:r>
            <a:r>
              <a:rPr lang="en-IN" sz="1200" b="1" dirty="0">
                <a:solidFill>
                  <a:srgbClr val="0F2B5C"/>
                </a:solidFill>
                <a:latin typeface="Inter"/>
              </a:rPr>
              <a:t>es</a:t>
            </a:r>
            <a:r>
              <a:rPr sz="1200" b="1" i="0" u="none" dirty="0">
                <a:solidFill>
                  <a:srgbClr val="0F2B5C"/>
                </a:solidFill>
                <a:latin typeface="Inter"/>
              </a:rPr>
              <a:t> ]</a:t>
            </a:r>
          </a:p>
        </p:txBody>
      </p:sp>
      <p:sp>
        <p:nvSpPr>
          <p:cNvPr id="20" name="TextBox 19"/>
          <p:cNvSpPr txBox="1"/>
          <p:nvPr/>
        </p:nvSpPr>
        <p:spPr>
          <a:xfrm>
            <a:off x="4727525" y="4400550"/>
            <a:ext cx="2736800" cy="177105"/>
          </a:xfrm>
          <a:prstGeom prst="rect">
            <a:avLst/>
          </a:prstGeom>
          <a:noFill/>
        </p:spPr>
        <p:txBody>
          <a:bodyPr wrap="square" lIns="0" tIns="0" rIns="0" bIns="0" anchor="t">
            <a:spAutoFit/>
          </a:bodyPr>
          <a:lstStyle/>
          <a:p>
            <a:pPr algn="ctr">
              <a:lnSpc>
                <a:spcPts val="1395"/>
              </a:lnSpc>
            </a:pPr>
            <a:r>
              <a:rPr sz="900" b="1" i="0" u="none">
                <a:solidFill>
                  <a:srgbClr val="64748B"/>
                </a:solidFill>
                <a:latin typeface="Inter"/>
              </a:rPr>
              <a:t>TEAM LEADER</a:t>
            </a:r>
          </a:p>
        </p:txBody>
      </p:sp>
      <p:sp>
        <p:nvSpPr>
          <p:cNvPr id="21" name="TextBox 20"/>
          <p:cNvSpPr txBox="1"/>
          <p:nvPr/>
        </p:nvSpPr>
        <p:spPr>
          <a:xfrm>
            <a:off x="4730725" y="4615755"/>
            <a:ext cx="2736800" cy="223394"/>
          </a:xfrm>
          <a:prstGeom prst="rect">
            <a:avLst/>
          </a:prstGeom>
          <a:noFill/>
        </p:spPr>
        <p:txBody>
          <a:bodyPr wrap="square" lIns="0" tIns="0" rIns="0" bIns="0" anchor="t">
            <a:spAutoFit/>
          </a:bodyPr>
          <a:lstStyle/>
          <a:p>
            <a:pPr algn="ctr">
              <a:lnSpc>
                <a:spcPts val="1860"/>
              </a:lnSpc>
            </a:pPr>
            <a:r>
              <a:rPr sz="1200" b="1" i="0" u="none" dirty="0">
                <a:solidFill>
                  <a:srgbClr val="0F2B5C"/>
                </a:solidFill>
                <a:latin typeface="Inter"/>
              </a:rPr>
              <a:t>[ </a:t>
            </a:r>
            <a:r>
              <a:rPr lang="en-IN" sz="1200" b="1" dirty="0">
                <a:solidFill>
                  <a:srgbClr val="0F2B5C"/>
                </a:solidFill>
                <a:latin typeface="Inter"/>
              </a:rPr>
              <a:t>Preetansh Gohil</a:t>
            </a:r>
            <a:r>
              <a:rPr sz="1200" b="1" i="0" u="none" dirty="0">
                <a:solidFill>
                  <a:srgbClr val="0F2B5C"/>
                </a:solidFill>
                <a:latin typeface="Inter"/>
              </a:rPr>
              <a:t> ]</a:t>
            </a:r>
          </a:p>
        </p:txBody>
      </p:sp>
      <p:sp>
        <p:nvSpPr>
          <p:cNvPr id="22" name="TextBox 21"/>
          <p:cNvSpPr txBox="1"/>
          <p:nvPr/>
        </p:nvSpPr>
        <p:spPr>
          <a:xfrm>
            <a:off x="7664350" y="4400550"/>
            <a:ext cx="2755999" cy="177105"/>
          </a:xfrm>
          <a:prstGeom prst="rect">
            <a:avLst/>
          </a:prstGeom>
          <a:noFill/>
        </p:spPr>
        <p:txBody>
          <a:bodyPr wrap="square" lIns="0" tIns="0" rIns="0" bIns="0" anchor="t">
            <a:spAutoFit/>
          </a:bodyPr>
          <a:lstStyle/>
          <a:p>
            <a:pPr algn="ctr">
              <a:lnSpc>
                <a:spcPts val="1395"/>
              </a:lnSpc>
            </a:pPr>
            <a:r>
              <a:rPr sz="900" b="1" i="0" u="none">
                <a:solidFill>
                  <a:srgbClr val="64748B"/>
                </a:solidFill>
                <a:latin typeface="Inter"/>
              </a:rPr>
              <a:t>TEAM MEMBERS</a:t>
            </a:r>
          </a:p>
        </p:txBody>
      </p:sp>
      <p:sp>
        <p:nvSpPr>
          <p:cNvPr id="23" name="TextBox 22"/>
          <p:cNvSpPr txBox="1"/>
          <p:nvPr/>
        </p:nvSpPr>
        <p:spPr>
          <a:xfrm>
            <a:off x="7664350" y="4615755"/>
            <a:ext cx="2755999" cy="399725"/>
          </a:xfrm>
          <a:prstGeom prst="rect">
            <a:avLst/>
          </a:prstGeom>
          <a:noFill/>
        </p:spPr>
        <p:txBody>
          <a:bodyPr wrap="square" lIns="0" tIns="0" rIns="0" bIns="0" anchor="t">
            <a:spAutoFit/>
          </a:bodyPr>
          <a:lstStyle/>
          <a:p>
            <a:pPr algn="ctr">
              <a:lnSpc>
                <a:spcPts val="1627"/>
              </a:lnSpc>
            </a:pPr>
            <a:r>
              <a:rPr sz="1200" b="1" i="0" u="none" dirty="0">
                <a:solidFill>
                  <a:srgbClr val="334155"/>
                </a:solidFill>
                <a:latin typeface="Inter SemiBold"/>
              </a:rPr>
              <a:t>[ </a:t>
            </a:r>
            <a:r>
              <a:rPr lang="en-IN" sz="1200" b="1" dirty="0">
                <a:solidFill>
                  <a:srgbClr val="334155"/>
                </a:solidFill>
                <a:latin typeface="Inter SemiBold"/>
              </a:rPr>
              <a:t>Vibhuti Gosai</a:t>
            </a:r>
            <a:r>
              <a:rPr sz="1200" b="1" i="0" u="none" dirty="0">
                <a:solidFill>
                  <a:srgbClr val="334155"/>
                </a:solidFill>
                <a:latin typeface="Inter SemiBold"/>
              </a:rPr>
              <a:t>, </a:t>
            </a:r>
            <a:r>
              <a:rPr lang="en-IN" sz="1200" b="1" dirty="0">
                <a:solidFill>
                  <a:srgbClr val="334155"/>
                </a:solidFill>
                <a:latin typeface="Inter SemiBold"/>
              </a:rPr>
              <a:t>Ricky Makwana</a:t>
            </a:r>
            <a:r>
              <a:rPr sz="1200" b="1" i="0" u="none" dirty="0">
                <a:solidFill>
                  <a:srgbClr val="334155"/>
                </a:solidFill>
                <a:latin typeface="Inter SemiBold"/>
              </a:rPr>
              <a:t>, </a:t>
            </a:r>
            <a:r>
              <a:rPr lang="en-IN" sz="1200" b="1" dirty="0">
                <a:solidFill>
                  <a:srgbClr val="334155"/>
                </a:solidFill>
                <a:latin typeface="Inter SemiBold"/>
              </a:rPr>
              <a:t>Poojan Joshi &amp; Mahek Valecha</a:t>
            </a:r>
            <a:r>
              <a:rPr sz="1200" b="1" i="0" u="none" dirty="0">
                <a:solidFill>
                  <a:srgbClr val="334155"/>
                </a:solidFill>
                <a:latin typeface="Inter SemiBold"/>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90625"/>
            <a:ext cx="3555950" cy="4572000"/>
          </a:xfrm>
          <a:prstGeom prst="rect">
            <a:avLst/>
          </a:prstGeom>
        </p:spPr>
      </p:pic>
      <p:pic>
        <p:nvPicPr>
          <p:cNvPr id="4" name="Picture 3" descr="image.png"/>
          <p:cNvPicPr>
            <a:picLocks noChangeAspect="1"/>
          </p:cNvPicPr>
          <p:nvPr/>
        </p:nvPicPr>
        <p:blipFill>
          <a:blip r:embed="rId4"/>
          <a:stretch>
            <a:fillRect/>
          </a:stretch>
        </p:blipFill>
        <p:spPr>
          <a:xfrm>
            <a:off x="4139381" y="1138917"/>
            <a:ext cx="3555950" cy="4572000"/>
          </a:xfrm>
          <a:prstGeom prst="rect">
            <a:avLst/>
          </a:prstGeom>
        </p:spPr>
      </p:pic>
      <p:pic>
        <p:nvPicPr>
          <p:cNvPr id="5" name="Picture 4" descr="image.png"/>
          <p:cNvPicPr>
            <a:picLocks noChangeAspect="1"/>
          </p:cNvPicPr>
          <p:nvPr/>
        </p:nvPicPr>
        <p:blipFill>
          <a:blip r:embed="rId5"/>
          <a:stretch>
            <a:fillRect/>
          </a:stretch>
        </p:blipFill>
        <p:spPr>
          <a:xfrm>
            <a:off x="7903032" y="1200149"/>
            <a:ext cx="3556099" cy="4572000"/>
          </a:xfrm>
          <a:prstGeom prst="rect">
            <a:avLst/>
          </a:prstGeom>
        </p:spPr>
      </p:pic>
      <p:pic>
        <p:nvPicPr>
          <p:cNvPr id="6" name="Picture 5" descr="image.png"/>
          <p:cNvPicPr>
            <a:picLocks noChangeAspect="1"/>
          </p:cNvPicPr>
          <p:nvPr/>
        </p:nvPicPr>
        <p:blipFill>
          <a:blip r:embed="rId6"/>
          <a:stretch>
            <a:fillRect/>
          </a:stretch>
        </p:blipFill>
        <p:spPr>
          <a:xfrm>
            <a:off x="533400" y="6438900"/>
            <a:ext cx="11125200" cy="247650"/>
          </a:xfrm>
          <a:prstGeom prst="rect">
            <a:avLst/>
          </a:prstGeom>
        </p:spPr>
      </p:pic>
      <p:pic>
        <p:nvPicPr>
          <p:cNvPr id="7" name="Picture 6" descr="image.png"/>
          <p:cNvPicPr>
            <a:picLocks noChangeAspect="1"/>
          </p:cNvPicPr>
          <p:nvPr/>
        </p:nvPicPr>
        <p:blipFill>
          <a:blip r:embed="rId7"/>
          <a:stretch>
            <a:fillRect/>
          </a:stretch>
        </p:blipFill>
        <p:spPr>
          <a:xfrm>
            <a:off x="10934700" y="500062"/>
            <a:ext cx="723900" cy="247650"/>
          </a:xfrm>
          <a:prstGeom prst="rect">
            <a:avLst/>
          </a:prstGeom>
        </p:spPr>
      </p:pic>
      <p:sp>
        <p:nvSpPr>
          <p:cNvPr id="8" name="TextBox 7"/>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9" name="TextBox 8"/>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sp>
        <p:nvSpPr>
          <p:cNvPr id="10" name="TextBox 9"/>
          <p:cNvSpPr txBox="1"/>
          <p:nvPr/>
        </p:nvSpPr>
        <p:spPr>
          <a:xfrm>
            <a:off x="1085850" y="1419225"/>
            <a:ext cx="2913645" cy="238125"/>
          </a:xfrm>
          <a:prstGeom prst="rect">
            <a:avLst/>
          </a:prstGeom>
          <a:noFill/>
        </p:spPr>
        <p:txBody>
          <a:bodyPr wrap="square" lIns="0" tIns="0" rIns="0" bIns="0" anchor="ctr">
            <a:spAutoFit/>
          </a:bodyPr>
          <a:lstStyle/>
          <a:p>
            <a:pPr algn="l"/>
            <a:r>
              <a:rPr sz="1500" b="1" i="0" u="none">
                <a:solidFill>
                  <a:srgbClr val="0F2B5C"/>
                </a:solidFill>
                <a:latin typeface="Plus Jakarta Sans"/>
              </a:rPr>
              <a:t>Problem Context</a:t>
            </a:r>
          </a:p>
        </p:txBody>
      </p:sp>
      <p:sp>
        <p:nvSpPr>
          <p:cNvPr id="11" name="TextBox 10"/>
          <p:cNvSpPr txBox="1"/>
          <p:nvPr/>
        </p:nvSpPr>
        <p:spPr>
          <a:xfrm>
            <a:off x="800100" y="1771650"/>
            <a:ext cx="3060650" cy="1441677"/>
          </a:xfrm>
          <a:prstGeom prst="rect">
            <a:avLst/>
          </a:prstGeom>
          <a:noFill/>
        </p:spPr>
        <p:txBody>
          <a:bodyPr wrap="square" lIns="0" tIns="0" rIns="0" bIns="0" anchor="t">
            <a:spAutoFit/>
          </a:bodyPr>
          <a:lstStyle/>
          <a:p>
            <a:pPr>
              <a:lnSpc>
                <a:spcPts val="1860"/>
              </a:lnSpc>
            </a:pPr>
            <a:r>
              <a:rPr lang="en-US" sz="1200" dirty="0">
                <a:solidFill>
                  <a:srgbClr val="334155"/>
                </a:solidFill>
                <a:latin typeface="Inter"/>
              </a:rPr>
              <a:t>Modern organizations rely on multiple standalone security tools to perform network reconnaissance, vulnerability assessment, IoT discovery, and risk analysis. This fragmented approach increases investigation time and often leaves critical security gaps unnoticed.</a:t>
            </a:r>
            <a:endParaRPr sz="1200" b="0" i="0" u="none" dirty="0">
              <a:solidFill>
                <a:srgbClr val="334155"/>
              </a:solidFill>
              <a:latin typeface="Inter"/>
            </a:endParaRPr>
          </a:p>
        </p:txBody>
      </p:sp>
      <p:sp>
        <p:nvSpPr>
          <p:cNvPr id="12" name="TextBox 11"/>
          <p:cNvSpPr txBox="1"/>
          <p:nvPr/>
        </p:nvSpPr>
        <p:spPr>
          <a:xfrm>
            <a:off x="4870400" y="1419225"/>
            <a:ext cx="2913645" cy="238125"/>
          </a:xfrm>
          <a:prstGeom prst="rect">
            <a:avLst/>
          </a:prstGeom>
          <a:noFill/>
        </p:spPr>
        <p:txBody>
          <a:bodyPr wrap="square" lIns="0" tIns="0" rIns="0" bIns="0" anchor="ctr">
            <a:spAutoFit/>
          </a:bodyPr>
          <a:lstStyle/>
          <a:p>
            <a:pPr algn="l"/>
            <a:r>
              <a:rPr sz="1500" b="1" i="0" u="none">
                <a:solidFill>
                  <a:srgbClr val="0F2B5C"/>
                </a:solidFill>
                <a:latin typeface="Plus Jakarta Sans"/>
              </a:rPr>
              <a:t>Domain Importance</a:t>
            </a:r>
          </a:p>
        </p:txBody>
      </p:sp>
      <p:sp>
        <p:nvSpPr>
          <p:cNvPr id="14" name="TextBox 13"/>
          <p:cNvSpPr txBox="1"/>
          <p:nvPr/>
        </p:nvSpPr>
        <p:spPr>
          <a:xfrm>
            <a:off x="8654950" y="1419225"/>
            <a:ext cx="2913801" cy="238125"/>
          </a:xfrm>
          <a:prstGeom prst="rect">
            <a:avLst/>
          </a:prstGeom>
          <a:noFill/>
        </p:spPr>
        <p:txBody>
          <a:bodyPr wrap="square" lIns="0" tIns="0" rIns="0" bIns="0" anchor="ctr">
            <a:spAutoFit/>
          </a:bodyPr>
          <a:lstStyle/>
          <a:p>
            <a:pPr algn="l"/>
            <a:r>
              <a:rPr sz="1500" b="1" i="0" u="none">
                <a:solidFill>
                  <a:srgbClr val="0F2B5C"/>
                </a:solidFill>
                <a:latin typeface="Plus Jakarta Sans"/>
              </a:rPr>
              <a:t>Challenges &amp; Gaps</a:t>
            </a:r>
          </a:p>
        </p:txBody>
      </p:sp>
      <p:sp>
        <p:nvSpPr>
          <p:cNvPr id="15" name="TextBox 14"/>
          <p:cNvSpPr txBox="1"/>
          <p:nvPr/>
        </p:nvSpPr>
        <p:spPr>
          <a:xfrm>
            <a:off x="8369200" y="1771650"/>
            <a:ext cx="3060799" cy="1441677"/>
          </a:xfrm>
          <a:prstGeom prst="rect">
            <a:avLst/>
          </a:prstGeom>
          <a:noFill/>
        </p:spPr>
        <p:txBody>
          <a:bodyPr wrap="square" lIns="0" tIns="0" rIns="0" bIns="0" anchor="t">
            <a:spAutoFit/>
          </a:bodyPr>
          <a:lstStyle/>
          <a:p>
            <a:pPr marL="171450" indent="-171450">
              <a:lnSpc>
                <a:spcPts val="1860"/>
              </a:lnSpc>
              <a:buFont typeface="Arial" panose="020B0604020202020204" pitchFamily="34" charset="0"/>
              <a:buChar char="•"/>
            </a:pPr>
            <a:r>
              <a:rPr lang="en-US" sz="1200" dirty="0">
                <a:solidFill>
                  <a:srgbClr val="334155"/>
                </a:solidFill>
                <a:latin typeface="Inter"/>
              </a:rPr>
              <a:t>Multiple disconnected security tools</a:t>
            </a:r>
          </a:p>
          <a:p>
            <a:pPr marL="171450" indent="-171450">
              <a:lnSpc>
                <a:spcPts val="1860"/>
              </a:lnSpc>
              <a:buFont typeface="Arial" panose="020B0604020202020204" pitchFamily="34" charset="0"/>
              <a:buChar char="•"/>
            </a:pPr>
            <a:r>
              <a:rPr lang="en-US" sz="1200" dirty="0">
                <a:solidFill>
                  <a:srgbClr val="334155"/>
                </a:solidFill>
                <a:latin typeface="Inter"/>
              </a:rPr>
              <a:t>Manual network investigation</a:t>
            </a:r>
          </a:p>
          <a:p>
            <a:pPr marL="171450" indent="-171450">
              <a:lnSpc>
                <a:spcPts val="1860"/>
              </a:lnSpc>
              <a:buFont typeface="Arial" panose="020B0604020202020204" pitchFamily="34" charset="0"/>
              <a:buChar char="•"/>
            </a:pPr>
            <a:r>
              <a:rPr lang="en-US" sz="1200" dirty="0">
                <a:solidFill>
                  <a:srgbClr val="334155"/>
                </a:solidFill>
                <a:latin typeface="Inter"/>
              </a:rPr>
              <a:t>Limited asset visibility</a:t>
            </a:r>
          </a:p>
          <a:p>
            <a:pPr marL="171450" indent="-171450">
              <a:lnSpc>
                <a:spcPts val="1860"/>
              </a:lnSpc>
              <a:buFont typeface="Arial" panose="020B0604020202020204" pitchFamily="34" charset="0"/>
              <a:buChar char="•"/>
            </a:pPr>
            <a:r>
              <a:rPr lang="en-US" sz="1200" dirty="0">
                <a:solidFill>
                  <a:srgbClr val="334155"/>
                </a:solidFill>
                <a:latin typeface="Inter"/>
              </a:rPr>
              <a:t>Slow incident response</a:t>
            </a:r>
          </a:p>
          <a:p>
            <a:pPr marL="171450" indent="-171450">
              <a:lnSpc>
                <a:spcPts val="1860"/>
              </a:lnSpc>
              <a:buFont typeface="Arial" panose="020B0604020202020204" pitchFamily="34" charset="0"/>
              <a:buChar char="•"/>
            </a:pPr>
            <a:r>
              <a:rPr lang="en-US" sz="1200" dirty="0">
                <a:solidFill>
                  <a:srgbClr val="334155"/>
                </a:solidFill>
                <a:latin typeface="Inter"/>
              </a:rPr>
              <a:t>Lack of automated risk analysis</a:t>
            </a:r>
          </a:p>
          <a:p>
            <a:pPr algn="l">
              <a:lnSpc>
                <a:spcPts val="1860"/>
              </a:lnSpc>
            </a:pPr>
            <a:endParaRPr sz="1200" b="0" i="0" u="none" dirty="0">
              <a:solidFill>
                <a:srgbClr val="334155"/>
              </a:solidFill>
              <a:latin typeface="Inter"/>
            </a:endParaRPr>
          </a:p>
        </p:txBody>
      </p:sp>
      <p:pic>
        <p:nvPicPr>
          <p:cNvPr id="16" name="Picture 15" descr="image.png"/>
          <p:cNvPicPr>
            <a:picLocks noChangeAspect="1"/>
          </p:cNvPicPr>
          <p:nvPr/>
        </p:nvPicPr>
        <p:blipFill>
          <a:blip r:embed="rId8"/>
          <a:stretch>
            <a:fillRect/>
          </a:stretch>
        </p:blipFill>
        <p:spPr>
          <a:xfrm>
            <a:off x="800100" y="1443037"/>
            <a:ext cx="190500" cy="190500"/>
          </a:xfrm>
          <a:prstGeom prst="rect">
            <a:avLst/>
          </a:prstGeom>
        </p:spPr>
      </p:pic>
      <p:pic>
        <p:nvPicPr>
          <p:cNvPr id="23" name="Picture 22" descr="image.png"/>
          <p:cNvPicPr>
            <a:picLocks noChangeAspect="1"/>
          </p:cNvPicPr>
          <p:nvPr/>
        </p:nvPicPr>
        <p:blipFill>
          <a:blip r:embed="rId9"/>
          <a:stretch>
            <a:fillRect/>
          </a:stretch>
        </p:blipFill>
        <p:spPr>
          <a:xfrm>
            <a:off x="4584650" y="1443037"/>
            <a:ext cx="190500" cy="190500"/>
          </a:xfrm>
          <a:prstGeom prst="rect">
            <a:avLst/>
          </a:prstGeom>
        </p:spPr>
      </p:pic>
      <p:sp>
        <p:nvSpPr>
          <p:cNvPr id="26" name="TextBox 25"/>
          <p:cNvSpPr txBox="1"/>
          <p:nvPr/>
        </p:nvSpPr>
        <p:spPr>
          <a:xfrm flipV="1">
            <a:off x="4722712" y="3635513"/>
            <a:ext cx="52438" cy="184666"/>
          </a:xfrm>
          <a:prstGeom prst="rect">
            <a:avLst/>
          </a:prstGeom>
          <a:noFill/>
        </p:spPr>
        <p:txBody>
          <a:bodyPr wrap="square" lIns="0" tIns="0" rIns="0" bIns="0" anchor="t">
            <a:spAutoFit/>
          </a:bodyPr>
          <a:lstStyle/>
          <a:p>
            <a:pPr algn="l"/>
            <a:r>
              <a:rPr sz="1200" b="0" i="0" u="none" dirty="0">
                <a:solidFill>
                  <a:srgbClr val="334155"/>
                </a:solidFill>
                <a:latin typeface="Inter"/>
              </a:rPr>
              <a:t>•</a:t>
            </a:r>
          </a:p>
        </p:txBody>
      </p:sp>
      <p:pic>
        <p:nvPicPr>
          <p:cNvPr id="30" name="Picture 29" descr="image.png"/>
          <p:cNvPicPr>
            <a:picLocks noChangeAspect="1"/>
          </p:cNvPicPr>
          <p:nvPr/>
        </p:nvPicPr>
        <p:blipFill>
          <a:blip r:embed="rId10"/>
          <a:stretch>
            <a:fillRect/>
          </a:stretch>
        </p:blipFill>
        <p:spPr>
          <a:xfrm>
            <a:off x="8369200" y="1443037"/>
            <a:ext cx="190500" cy="190500"/>
          </a:xfrm>
          <a:prstGeom prst="rect">
            <a:avLst/>
          </a:prstGeom>
        </p:spPr>
      </p:pic>
      <p:sp>
        <p:nvSpPr>
          <p:cNvPr id="37" name="TextBox 36"/>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Problem Statement</a:t>
            </a:r>
          </a:p>
        </p:txBody>
      </p:sp>
      <p:sp>
        <p:nvSpPr>
          <p:cNvPr id="38" name="Rectangle 37"/>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D7D7C2D7-7868-9100-B626-667F23CE02B3}"/>
              </a:ext>
            </a:extLst>
          </p:cNvPr>
          <p:cNvSpPr txBox="1">
            <a:spLocks/>
          </p:cNvSpPr>
          <p:nvPr/>
        </p:nvSpPr>
        <p:spPr>
          <a:xfrm>
            <a:off x="4481044" y="1771650"/>
            <a:ext cx="2513012" cy="2416302"/>
          </a:xfrm>
          <a:prstGeom prst="rect">
            <a:avLst/>
          </a:prstGeom>
          <a:noFill/>
        </p:spPr>
        <p:txBody>
          <a:bodyPr wrap="square" lIns="85725" tIns="0" rIns="0" bIns="0" anchor="t">
            <a:spAutoFit/>
          </a:bodyPr>
          <a:lstStyle/>
          <a:p>
            <a:pPr>
              <a:lnSpc>
                <a:spcPts val="1860"/>
              </a:lnSpc>
            </a:pPr>
            <a:r>
              <a:rPr lang="en-US" sz="1200" dirty="0">
                <a:solidFill>
                  <a:srgbClr val="334155"/>
                </a:solidFill>
                <a:latin typeface="Inter"/>
              </a:rPr>
              <a:t>Why this problem is important</a:t>
            </a:r>
          </a:p>
          <a:p>
            <a:pPr>
              <a:lnSpc>
                <a:spcPts val="1860"/>
              </a:lnSpc>
            </a:pPr>
            <a:r>
              <a:rPr lang="en-US" sz="1200" dirty="0">
                <a:solidFill>
                  <a:srgbClr val="334155"/>
                </a:solidFill>
                <a:latin typeface="Inter"/>
              </a:rPr>
              <a:t>Increasing cyber threats demand rapid security assessments.</a:t>
            </a:r>
          </a:p>
          <a:p>
            <a:pPr>
              <a:lnSpc>
                <a:spcPts val="1860"/>
              </a:lnSpc>
            </a:pPr>
            <a:r>
              <a:rPr lang="en-US" sz="1200" dirty="0">
                <a:solidFill>
                  <a:srgbClr val="334155"/>
                </a:solidFill>
                <a:latin typeface="Inter"/>
              </a:rPr>
              <a:t>Enterprise networks contain diverse devices, including IoT systems.</a:t>
            </a:r>
          </a:p>
          <a:p>
            <a:pPr>
              <a:lnSpc>
                <a:spcPts val="1860"/>
              </a:lnSpc>
            </a:pPr>
            <a:r>
              <a:rPr lang="en-US" sz="1200" dirty="0">
                <a:solidFill>
                  <a:srgbClr val="334155"/>
                </a:solidFill>
                <a:latin typeface="Inter"/>
              </a:rPr>
              <a:t>Manual analysis is time-consuming and error-prone.</a:t>
            </a:r>
          </a:p>
          <a:p>
            <a:pPr>
              <a:lnSpc>
                <a:spcPts val="1860"/>
              </a:lnSpc>
            </a:pPr>
            <a:r>
              <a:rPr lang="en-US" sz="1200" dirty="0">
                <a:solidFill>
                  <a:srgbClr val="334155"/>
                </a:solidFill>
                <a:latin typeface="Inter"/>
              </a:rPr>
              <a:t>Security teams require centralized visibility of network assets.</a:t>
            </a:r>
          </a:p>
          <a:p>
            <a:pPr algn="l">
              <a:lnSpc>
                <a:spcPts val="1860"/>
              </a:lnSpc>
            </a:pPr>
            <a:endParaRPr sz="1200" b="0" i="0" u="none" dirty="0">
              <a:solidFill>
                <a:srgbClr val="334155"/>
              </a:solidFill>
              <a:latin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29350" y="1190625"/>
            <a:ext cx="5429250" cy="4191000"/>
          </a:xfrm>
          <a:prstGeom prst="rect">
            <a:avLst/>
          </a:prstGeom>
        </p:spPr>
      </p:pic>
      <p:pic>
        <p:nvPicPr>
          <p:cNvPr id="4" name="Picture 3" descr="image.png"/>
          <p:cNvPicPr>
            <a:picLocks noChangeAspect="1"/>
          </p:cNvPicPr>
          <p:nvPr/>
        </p:nvPicPr>
        <p:blipFill>
          <a:blip r:embed="rId4"/>
          <a:stretch>
            <a:fillRect/>
          </a:stretch>
        </p:blipFill>
        <p:spPr>
          <a:xfrm>
            <a:off x="516467" y="1260486"/>
            <a:ext cx="5429250" cy="2767756"/>
          </a:xfrm>
          <a:prstGeom prst="rect">
            <a:avLst/>
          </a:prstGeom>
        </p:spPr>
      </p:pic>
      <p:pic>
        <p:nvPicPr>
          <p:cNvPr id="5" name="Picture 4" descr="image.png"/>
          <p:cNvPicPr>
            <a:picLocks noChangeAspect="1"/>
          </p:cNvPicPr>
          <p:nvPr/>
        </p:nvPicPr>
        <p:blipFill>
          <a:blip r:embed="rId5"/>
          <a:stretch>
            <a:fillRect/>
          </a:stretch>
        </p:blipFill>
        <p:spPr>
          <a:xfrm>
            <a:off x="533400" y="4148881"/>
            <a:ext cx="5429250" cy="2512516"/>
          </a:xfrm>
          <a:prstGeom prst="rect">
            <a:avLst/>
          </a:prstGeom>
        </p:spPr>
      </p:pic>
      <p:pic>
        <p:nvPicPr>
          <p:cNvPr id="6" name="Picture 5" descr="image.png"/>
          <p:cNvPicPr>
            <a:picLocks noChangeAspect="1"/>
          </p:cNvPicPr>
          <p:nvPr/>
        </p:nvPicPr>
        <p:blipFill>
          <a:blip r:embed="rId6"/>
          <a:stretch>
            <a:fillRect/>
          </a:stretch>
        </p:blipFill>
        <p:spPr>
          <a:xfrm>
            <a:off x="523875" y="6528047"/>
            <a:ext cx="11125200" cy="247650"/>
          </a:xfrm>
          <a:prstGeom prst="rect">
            <a:avLst/>
          </a:prstGeom>
        </p:spPr>
      </p:pic>
      <p:pic>
        <p:nvPicPr>
          <p:cNvPr id="7" name="Picture 6" descr="image.png"/>
          <p:cNvPicPr>
            <a:picLocks noChangeAspect="1"/>
          </p:cNvPicPr>
          <p:nvPr/>
        </p:nvPicPr>
        <p:blipFill>
          <a:blip r:embed="rId7"/>
          <a:stretch>
            <a:fillRect/>
          </a:stretch>
        </p:blipFill>
        <p:spPr>
          <a:xfrm>
            <a:off x="10934700" y="500062"/>
            <a:ext cx="723900" cy="247650"/>
          </a:xfrm>
          <a:prstGeom prst="rect">
            <a:avLst/>
          </a:prstGeom>
        </p:spPr>
      </p:pic>
      <p:sp>
        <p:nvSpPr>
          <p:cNvPr id="8" name="TextBox 7"/>
          <p:cNvSpPr txBox="1"/>
          <p:nvPr/>
        </p:nvSpPr>
        <p:spPr>
          <a:xfrm>
            <a:off x="745065" y="6550811"/>
            <a:ext cx="2181225" cy="142875"/>
          </a:xfrm>
          <a:prstGeom prst="rect">
            <a:avLst/>
          </a:prstGeom>
          <a:noFill/>
        </p:spPr>
        <p:txBody>
          <a:bodyPr wrap="square" lIns="0" tIns="0" rIns="0" bIns="0" anchor="t">
            <a:spAutoFit/>
          </a:bodyPr>
          <a:lstStyle/>
          <a:p>
            <a:pPr algn="l"/>
            <a:r>
              <a:rPr sz="900" b="0" i="0" u="none" dirty="0">
                <a:solidFill>
                  <a:srgbClr val="64748B"/>
                </a:solidFill>
                <a:latin typeface="Inter"/>
              </a:rPr>
              <a:t>Bootcamp on Intelligent Cyber Forensics</a:t>
            </a:r>
          </a:p>
        </p:txBody>
      </p:sp>
      <p:sp>
        <p:nvSpPr>
          <p:cNvPr id="9" name="TextBox 8"/>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pic>
        <p:nvPicPr>
          <p:cNvPr id="10" name="Picture 9" descr="image.png"/>
          <p:cNvPicPr>
            <a:picLocks noChangeAspect="1"/>
          </p:cNvPicPr>
          <p:nvPr/>
        </p:nvPicPr>
        <p:blipFill>
          <a:blip r:embed="rId8"/>
          <a:stretch>
            <a:fillRect/>
          </a:stretch>
        </p:blipFill>
        <p:spPr>
          <a:xfrm>
            <a:off x="6238875" y="1200150"/>
            <a:ext cx="5410200" cy="4171950"/>
          </a:xfrm>
          <a:prstGeom prst="rect">
            <a:avLst/>
          </a:prstGeom>
        </p:spPr>
      </p:pic>
      <p:sp>
        <p:nvSpPr>
          <p:cNvPr id="11" name="TextBox 10"/>
          <p:cNvSpPr txBox="1"/>
          <p:nvPr/>
        </p:nvSpPr>
        <p:spPr>
          <a:xfrm>
            <a:off x="1085850" y="1419225"/>
            <a:ext cx="4880610" cy="238125"/>
          </a:xfrm>
          <a:prstGeom prst="rect">
            <a:avLst/>
          </a:prstGeom>
          <a:noFill/>
        </p:spPr>
        <p:txBody>
          <a:bodyPr wrap="square" lIns="0" tIns="0" rIns="0" bIns="0" anchor="ctr">
            <a:spAutoFit/>
          </a:bodyPr>
          <a:lstStyle/>
          <a:p>
            <a:pPr algn="l"/>
            <a:r>
              <a:rPr sz="1500" b="1" i="0" u="none">
                <a:solidFill>
                  <a:srgbClr val="0F2B5C"/>
                </a:solidFill>
                <a:latin typeface="Plus Jakarta Sans"/>
              </a:rPr>
              <a:t>Real-World Relevance &amp; Use Case</a:t>
            </a:r>
          </a:p>
        </p:txBody>
      </p:sp>
      <p:sp>
        <p:nvSpPr>
          <p:cNvPr id="12" name="TextBox 11"/>
          <p:cNvSpPr txBox="1"/>
          <p:nvPr/>
        </p:nvSpPr>
        <p:spPr>
          <a:xfrm>
            <a:off x="800100" y="1771650"/>
            <a:ext cx="4933950" cy="1198020"/>
          </a:xfrm>
          <a:prstGeom prst="rect">
            <a:avLst/>
          </a:prstGeom>
          <a:noFill/>
        </p:spPr>
        <p:txBody>
          <a:bodyPr wrap="square" lIns="0" tIns="0" rIns="0" bIns="0" anchor="t">
            <a:spAutoFit/>
          </a:bodyPr>
          <a:lstStyle/>
          <a:p>
            <a:pPr>
              <a:lnSpc>
                <a:spcPts val="1860"/>
              </a:lnSpc>
            </a:pPr>
            <a:r>
              <a:rPr lang="en-US" sz="1200" dirty="0">
                <a:solidFill>
                  <a:srgbClr val="334155"/>
                </a:solidFill>
                <a:latin typeface="Inter"/>
              </a:rPr>
              <a:t>ANISAS provides an AI-powered platform that automates network discovery, device identification, security assessment, and report generation from a single target IP, enabling faster and more efficient security investigations.</a:t>
            </a:r>
          </a:p>
          <a:p>
            <a:pPr>
              <a:lnSpc>
                <a:spcPts val="1860"/>
              </a:lnSpc>
            </a:pPr>
            <a:endParaRPr lang="en-US" sz="1200" dirty="0">
              <a:solidFill>
                <a:srgbClr val="334155"/>
              </a:solidFill>
              <a:latin typeface="Inter"/>
            </a:endParaRPr>
          </a:p>
          <a:p>
            <a:pPr algn="l">
              <a:lnSpc>
                <a:spcPts val="1860"/>
              </a:lnSpc>
            </a:pPr>
            <a:endParaRPr sz="1200" b="0" i="0" u="none" dirty="0">
              <a:solidFill>
                <a:srgbClr val="334155"/>
              </a:solidFill>
              <a:latin typeface="Inter"/>
            </a:endParaRPr>
          </a:p>
        </p:txBody>
      </p:sp>
      <p:sp>
        <p:nvSpPr>
          <p:cNvPr id="13" name="TextBox 12"/>
          <p:cNvSpPr txBox="1"/>
          <p:nvPr/>
        </p:nvSpPr>
        <p:spPr>
          <a:xfrm>
            <a:off x="1133475" y="4377481"/>
            <a:ext cx="4830603" cy="238125"/>
          </a:xfrm>
          <a:prstGeom prst="rect">
            <a:avLst/>
          </a:prstGeom>
          <a:noFill/>
        </p:spPr>
        <p:txBody>
          <a:bodyPr wrap="square" lIns="0" tIns="0" rIns="0" bIns="0" anchor="ctr">
            <a:spAutoFit/>
          </a:bodyPr>
          <a:lstStyle/>
          <a:p>
            <a:pPr algn="l"/>
            <a:r>
              <a:rPr sz="1500" b="1" i="0" u="none">
                <a:solidFill>
                  <a:srgbClr val="0F2B5C"/>
                </a:solidFill>
                <a:latin typeface="Plus Jakarta Sans"/>
              </a:rPr>
              <a:t>Who Will Benefit?</a:t>
            </a:r>
          </a:p>
        </p:txBody>
      </p:sp>
      <p:pic>
        <p:nvPicPr>
          <p:cNvPr id="14" name="Picture 13" descr="image.png"/>
          <p:cNvPicPr>
            <a:picLocks noChangeAspect="1"/>
          </p:cNvPicPr>
          <p:nvPr/>
        </p:nvPicPr>
        <p:blipFill>
          <a:blip r:embed="rId9"/>
          <a:stretch>
            <a:fillRect/>
          </a:stretch>
        </p:blipFill>
        <p:spPr>
          <a:xfrm>
            <a:off x="800100" y="1443037"/>
            <a:ext cx="190500" cy="190500"/>
          </a:xfrm>
          <a:prstGeom prst="rect">
            <a:avLst/>
          </a:prstGeom>
        </p:spPr>
      </p:pic>
      <p:pic>
        <p:nvPicPr>
          <p:cNvPr id="19" name="Picture 18" descr="image.png"/>
          <p:cNvPicPr>
            <a:picLocks noChangeAspect="1"/>
          </p:cNvPicPr>
          <p:nvPr/>
        </p:nvPicPr>
        <p:blipFill>
          <a:blip r:embed="rId10"/>
          <a:stretch>
            <a:fillRect/>
          </a:stretch>
        </p:blipFill>
        <p:spPr>
          <a:xfrm>
            <a:off x="800100" y="4401294"/>
            <a:ext cx="238125" cy="190500"/>
          </a:xfrm>
          <a:prstGeom prst="rect">
            <a:avLst/>
          </a:prstGeom>
        </p:spPr>
      </p:pic>
      <p:sp>
        <p:nvSpPr>
          <p:cNvPr id="26" name="TextBox 25"/>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Domain &amp; Relevance</a:t>
            </a:r>
          </a:p>
        </p:txBody>
      </p:sp>
      <p:sp>
        <p:nvSpPr>
          <p:cNvPr id="27" name="Rectangle 26"/>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B896C496-B127-5106-17F3-8FDB654D31FC}"/>
              </a:ext>
            </a:extLst>
          </p:cNvPr>
          <p:cNvSpPr txBox="1"/>
          <p:nvPr/>
        </p:nvSpPr>
        <p:spPr>
          <a:xfrm>
            <a:off x="1038225" y="4547873"/>
            <a:ext cx="2853217" cy="1200329"/>
          </a:xfrm>
          <a:prstGeom prst="rect">
            <a:avLst/>
          </a:prstGeom>
          <a:noFill/>
        </p:spPr>
        <p:txBody>
          <a:bodyPr wrap="none" rtlCol="0">
            <a:spAutoFit/>
          </a:bodyPr>
          <a:lstStyle/>
          <a:p>
            <a:pPr marL="171450" indent="-171450">
              <a:buFont typeface="Arial" panose="020B0604020202020204" pitchFamily="34" charset="0"/>
              <a:buChar char="•"/>
            </a:pPr>
            <a:r>
              <a:rPr lang="en-US" sz="1200" dirty="0"/>
              <a:t>Who will benefit</a:t>
            </a:r>
          </a:p>
          <a:p>
            <a:pPr marL="171450" indent="-171450">
              <a:buFont typeface="Arial" panose="020B0604020202020204" pitchFamily="34" charset="0"/>
              <a:buChar char="•"/>
            </a:pPr>
            <a:r>
              <a:rPr lang="en-US" sz="1200" dirty="0"/>
              <a:t>Security Operations Center (SOC) Teams</a:t>
            </a:r>
          </a:p>
          <a:p>
            <a:pPr marL="171450" indent="-171450">
              <a:buFont typeface="Arial" panose="020B0604020202020204" pitchFamily="34" charset="0"/>
              <a:buChar char="•"/>
            </a:pPr>
            <a:r>
              <a:rPr lang="en-US" sz="1200" dirty="0"/>
              <a:t>Network Administrators</a:t>
            </a:r>
          </a:p>
          <a:p>
            <a:pPr marL="171450" indent="-171450">
              <a:buFont typeface="Arial" panose="020B0604020202020204" pitchFamily="34" charset="0"/>
              <a:buChar char="•"/>
            </a:pPr>
            <a:r>
              <a:rPr lang="en-US" sz="1200" dirty="0"/>
              <a:t>Penetration Testers</a:t>
            </a:r>
          </a:p>
          <a:p>
            <a:pPr marL="171450" indent="-171450">
              <a:buFont typeface="Arial" panose="020B0604020202020204" pitchFamily="34" charset="0"/>
              <a:buChar char="•"/>
            </a:pPr>
            <a:r>
              <a:rPr lang="en-US" sz="1200" dirty="0"/>
              <a:t>Cybersecurity Consultants</a:t>
            </a:r>
          </a:p>
          <a:p>
            <a:pPr marL="171450" indent="-171450">
              <a:buFont typeface="Arial" panose="020B0604020202020204" pitchFamily="34" charset="0"/>
              <a:buChar char="•"/>
            </a:pPr>
            <a:r>
              <a:rPr lang="en-US" sz="1200" dirty="0"/>
              <a:t>Government &amp; Enterprise Organizations</a:t>
            </a:r>
            <a:endParaRPr lang="en-IN"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90625"/>
            <a:ext cx="3555950" cy="4572000"/>
          </a:xfrm>
          <a:prstGeom prst="rect">
            <a:avLst/>
          </a:prstGeom>
        </p:spPr>
      </p:pic>
      <p:pic>
        <p:nvPicPr>
          <p:cNvPr id="4" name="Picture 3" descr="image.png"/>
          <p:cNvPicPr>
            <a:picLocks noChangeAspect="1"/>
          </p:cNvPicPr>
          <p:nvPr/>
        </p:nvPicPr>
        <p:blipFill>
          <a:blip r:embed="rId4"/>
          <a:stretch>
            <a:fillRect/>
          </a:stretch>
        </p:blipFill>
        <p:spPr>
          <a:xfrm>
            <a:off x="7473825" y="1272117"/>
            <a:ext cx="3555950" cy="4572000"/>
          </a:xfrm>
          <a:prstGeom prst="rect">
            <a:avLst/>
          </a:prstGeom>
        </p:spPr>
      </p:pic>
      <p:pic>
        <p:nvPicPr>
          <p:cNvPr id="6" name="Picture 5" descr="image.png"/>
          <p:cNvPicPr>
            <a:picLocks noChangeAspect="1"/>
          </p:cNvPicPr>
          <p:nvPr/>
        </p:nvPicPr>
        <p:blipFill>
          <a:blip r:embed="rId5"/>
          <a:stretch>
            <a:fillRect/>
          </a:stretch>
        </p:blipFill>
        <p:spPr>
          <a:xfrm>
            <a:off x="533400" y="6438900"/>
            <a:ext cx="11125200" cy="247650"/>
          </a:xfrm>
          <a:prstGeom prst="rect">
            <a:avLst/>
          </a:prstGeom>
        </p:spPr>
      </p:pic>
      <p:pic>
        <p:nvPicPr>
          <p:cNvPr id="7" name="Picture 6" descr="image.png"/>
          <p:cNvPicPr>
            <a:picLocks noChangeAspect="1"/>
          </p:cNvPicPr>
          <p:nvPr/>
        </p:nvPicPr>
        <p:blipFill>
          <a:blip r:embed="rId6"/>
          <a:stretch>
            <a:fillRect/>
          </a:stretch>
        </p:blipFill>
        <p:spPr>
          <a:xfrm>
            <a:off x="10934700" y="500062"/>
            <a:ext cx="723900" cy="247650"/>
          </a:xfrm>
          <a:prstGeom prst="rect">
            <a:avLst/>
          </a:prstGeom>
        </p:spPr>
      </p:pic>
      <p:sp>
        <p:nvSpPr>
          <p:cNvPr id="8" name="TextBox 7"/>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9" name="TextBox 8"/>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sp>
        <p:nvSpPr>
          <p:cNvPr id="10" name="TextBox 9"/>
          <p:cNvSpPr txBox="1"/>
          <p:nvPr/>
        </p:nvSpPr>
        <p:spPr>
          <a:xfrm>
            <a:off x="1038225" y="1419225"/>
            <a:ext cx="2963651" cy="238125"/>
          </a:xfrm>
          <a:prstGeom prst="rect">
            <a:avLst/>
          </a:prstGeom>
          <a:noFill/>
        </p:spPr>
        <p:txBody>
          <a:bodyPr wrap="square" lIns="0" tIns="0" rIns="0" bIns="0" anchor="ctr">
            <a:spAutoFit/>
          </a:bodyPr>
          <a:lstStyle/>
          <a:p>
            <a:pPr algn="l"/>
            <a:r>
              <a:rPr sz="1500" b="1" i="0" u="none">
                <a:solidFill>
                  <a:srgbClr val="0F2B5C"/>
                </a:solidFill>
                <a:latin typeface="Plus Jakarta Sans"/>
              </a:rPr>
              <a:t>Solution Description</a:t>
            </a:r>
          </a:p>
        </p:txBody>
      </p:sp>
      <p:sp>
        <p:nvSpPr>
          <p:cNvPr id="11" name="TextBox 10"/>
          <p:cNvSpPr txBox="1"/>
          <p:nvPr/>
        </p:nvSpPr>
        <p:spPr>
          <a:xfrm>
            <a:off x="800100" y="1771650"/>
            <a:ext cx="3060650" cy="1441677"/>
          </a:xfrm>
          <a:prstGeom prst="rect">
            <a:avLst/>
          </a:prstGeom>
          <a:noFill/>
        </p:spPr>
        <p:txBody>
          <a:bodyPr wrap="square" lIns="0" tIns="0" rIns="0" bIns="0" anchor="t">
            <a:spAutoFit/>
          </a:bodyPr>
          <a:lstStyle/>
          <a:p>
            <a:pPr>
              <a:lnSpc>
                <a:spcPts val="1860"/>
              </a:lnSpc>
            </a:pPr>
            <a:r>
              <a:rPr lang="en-US" sz="1200" dirty="0">
                <a:solidFill>
                  <a:srgbClr val="334155"/>
                </a:solidFill>
                <a:latin typeface="Inter"/>
              </a:rPr>
              <a:t>ANISAS is an autonomous network intelligence platform that integrates multiple reconnaissance and security assessment modules into a unified system. It automates device discovery, threat analysis, and professional report generation.</a:t>
            </a:r>
          </a:p>
          <a:p>
            <a:pPr algn="l">
              <a:lnSpc>
                <a:spcPts val="1860"/>
              </a:lnSpc>
            </a:pPr>
            <a:endParaRPr sz="1200" b="0" i="0" u="none" dirty="0">
              <a:solidFill>
                <a:srgbClr val="334155"/>
              </a:solidFill>
              <a:latin typeface="Inter"/>
            </a:endParaRPr>
          </a:p>
        </p:txBody>
      </p:sp>
      <p:sp>
        <p:nvSpPr>
          <p:cNvPr id="12" name="TextBox 11"/>
          <p:cNvSpPr txBox="1"/>
          <p:nvPr/>
        </p:nvSpPr>
        <p:spPr>
          <a:xfrm>
            <a:off x="8021055" y="1514474"/>
            <a:ext cx="2913645" cy="238125"/>
          </a:xfrm>
          <a:prstGeom prst="rect">
            <a:avLst/>
          </a:prstGeom>
          <a:noFill/>
        </p:spPr>
        <p:txBody>
          <a:bodyPr wrap="square" lIns="0" tIns="0" rIns="0" bIns="0" anchor="ctr">
            <a:spAutoFit/>
          </a:bodyPr>
          <a:lstStyle/>
          <a:p>
            <a:pPr algn="l"/>
            <a:r>
              <a:rPr sz="1500" b="1" i="0" u="none" dirty="0">
                <a:solidFill>
                  <a:srgbClr val="0F2B5C"/>
                </a:solidFill>
                <a:latin typeface="Plus Jakarta Sans"/>
              </a:rPr>
              <a:t>Key Objectives</a:t>
            </a:r>
          </a:p>
        </p:txBody>
      </p:sp>
      <p:sp>
        <p:nvSpPr>
          <p:cNvPr id="13" name="TextBox 12"/>
          <p:cNvSpPr txBox="1"/>
          <p:nvPr/>
        </p:nvSpPr>
        <p:spPr>
          <a:xfrm>
            <a:off x="7784045" y="2065400"/>
            <a:ext cx="3060650" cy="1685333"/>
          </a:xfrm>
          <a:prstGeom prst="rect">
            <a:avLst/>
          </a:prstGeom>
          <a:noFill/>
        </p:spPr>
        <p:txBody>
          <a:bodyPr wrap="square" lIns="0" tIns="0" rIns="0" bIns="0" anchor="t">
            <a:spAutoFit/>
          </a:bodyPr>
          <a:lstStyle/>
          <a:p>
            <a:pPr marL="171450" indent="-171450">
              <a:lnSpc>
                <a:spcPts val="1860"/>
              </a:lnSpc>
              <a:buFont typeface="Arial" panose="020B0604020202020204" pitchFamily="34" charset="0"/>
              <a:buChar char="•"/>
            </a:pPr>
            <a:r>
              <a:rPr lang="en-IN" sz="1200" dirty="0">
                <a:solidFill>
                  <a:srgbClr val="334155"/>
                </a:solidFill>
                <a:latin typeface="Inter"/>
              </a:rPr>
              <a:t>Automate network reconnaissance</a:t>
            </a:r>
          </a:p>
          <a:p>
            <a:pPr marL="171450" indent="-171450">
              <a:lnSpc>
                <a:spcPts val="1860"/>
              </a:lnSpc>
              <a:buFont typeface="Arial" panose="020B0604020202020204" pitchFamily="34" charset="0"/>
              <a:buChar char="•"/>
            </a:pPr>
            <a:r>
              <a:rPr lang="en-IN" sz="1200" dirty="0">
                <a:solidFill>
                  <a:srgbClr val="334155"/>
                </a:solidFill>
                <a:latin typeface="Inter"/>
              </a:rPr>
              <a:t>Identify network assets and IoT devices</a:t>
            </a:r>
          </a:p>
          <a:p>
            <a:pPr marL="171450" indent="-171450">
              <a:lnSpc>
                <a:spcPts val="1860"/>
              </a:lnSpc>
              <a:buFont typeface="Arial" panose="020B0604020202020204" pitchFamily="34" charset="0"/>
              <a:buChar char="•"/>
            </a:pPr>
            <a:r>
              <a:rPr lang="en-IN" sz="1200" dirty="0">
                <a:solidFill>
                  <a:srgbClr val="334155"/>
                </a:solidFill>
                <a:latin typeface="Inter"/>
              </a:rPr>
              <a:t>Detect security perimeter devices</a:t>
            </a:r>
          </a:p>
          <a:p>
            <a:pPr marL="171450" indent="-171450">
              <a:lnSpc>
                <a:spcPts val="1860"/>
              </a:lnSpc>
              <a:buFont typeface="Arial" panose="020B0604020202020204" pitchFamily="34" charset="0"/>
              <a:buChar char="•"/>
            </a:pPr>
            <a:r>
              <a:rPr lang="en-IN" sz="1200" dirty="0">
                <a:solidFill>
                  <a:srgbClr val="334155"/>
                </a:solidFill>
                <a:latin typeface="Inter"/>
              </a:rPr>
              <a:t>Perform AI-driven risk analysis</a:t>
            </a:r>
          </a:p>
          <a:p>
            <a:pPr marL="171450" indent="-171450">
              <a:lnSpc>
                <a:spcPts val="1860"/>
              </a:lnSpc>
              <a:buFont typeface="Arial" panose="020B0604020202020204" pitchFamily="34" charset="0"/>
              <a:buChar char="•"/>
            </a:pPr>
            <a:r>
              <a:rPr lang="en-IN" sz="1200" dirty="0">
                <a:solidFill>
                  <a:srgbClr val="334155"/>
                </a:solidFill>
                <a:latin typeface="Inter"/>
              </a:rPr>
              <a:t>Generate visual reports and security summaries</a:t>
            </a:r>
          </a:p>
          <a:p>
            <a:pPr algn="l">
              <a:lnSpc>
                <a:spcPts val="1860"/>
              </a:lnSpc>
            </a:pPr>
            <a:endParaRPr sz="1200" b="0" i="0" u="none" dirty="0">
              <a:solidFill>
                <a:srgbClr val="334155"/>
              </a:solidFill>
              <a:latin typeface="Inter"/>
            </a:endParaRPr>
          </a:p>
        </p:txBody>
      </p:sp>
      <p:pic>
        <p:nvPicPr>
          <p:cNvPr id="16" name="Picture 15" descr="image.png"/>
          <p:cNvPicPr>
            <a:picLocks noChangeAspect="1"/>
          </p:cNvPicPr>
          <p:nvPr/>
        </p:nvPicPr>
        <p:blipFill>
          <a:blip r:embed="rId7"/>
          <a:stretch>
            <a:fillRect/>
          </a:stretch>
        </p:blipFill>
        <p:spPr>
          <a:xfrm>
            <a:off x="800100" y="1443037"/>
            <a:ext cx="142875" cy="190500"/>
          </a:xfrm>
          <a:prstGeom prst="rect">
            <a:avLst/>
          </a:prstGeom>
        </p:spPr>
      </p:pic>
      <p:pic>
        <p:nvPicPr>
          <p:cNvPr id="23" name="Picture 22" descr="image.png"/>
          <p:cNvPicPr>
            <a:picLocks noChangeAspect="1"/>
          </p:cNvPicPr>
          <p:nvPr/>
        </p:nvPicPr>
        <p:blipFill>
          <a:blip r:embed="rId8"/>
          <a:stretch>
            <a:fillRect/>
          </a:stretch>
        </p:blipFill>
        <p:spPr>
          <a:xfrm>
            <a:off x="7794697" y="1556808"/>
            <a:ext cx="190500" cy="190500"/>
          </a:xfrm>
          <a:prstGeom prst="rect">
            <a:avLst/>
          </a:prstGeom>
        </p:spPr>
      </p:pic>
      <p:sp>
        <p:nvSpPr>
          <p:cNvPr id="37" name="TextBox 36"/>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Proposed Solution Overview</a:t>
            </a:r>
          </a:p>
        </p:txBody>
      </p:sp>
      <p:sp>
        <p:nvSpPr>
          <p:cNvPr id="38" name="Rectangle 37"/>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524199"/>
            <a:ext cx="3005667" cy="2130325"/>
          </a:xfrm>
          <a:prstGeom prst="rect">
            <a:avLst/>
          </a:prstGeom>
        </p:spPr>
      </p:pic>
      <p:pic>
        <p:nvPicPr>
          <p:cNvPr id="12" name="Picture 11" descr="image.png"/>
          <p:cNvPicPr>
            <a:picLocks noChangeAspect="1"/>
          </p:cNvPicPr>
          <p:nvPr/>
        </p:nvPicPr>
        <p:blipFill>
          <a:blip r:embed="rId4"/>
          <a:stretch>
            <a:fillRect/>
          </a:stretch>
        </p:blipFill>
        <p:spPr>
          <a:xfrm>
            <a:off x="533400" y="6438900"/>
            <a:ext cx="11125200" cy="247650"/>
          </a:xfrm>
          <a:prstGeom prst="rect">
            <a:avLst/>
          </a:prstGeom>
        </p:spPr>
      </p:pic>
      <p:pic>
        <p:nvPicPr>
          <p:cNvPr id="13" name="Picture 12" descr="image.png"/>
          <p:cNvPicPr>
            <a:picLocks noChangeAspect="1"/>
          </p:cNvPicPr>
          <p:nvPr/>
        </p:nvPicPr>
        <p:blipFill>
          <a:blip r:embed="rId5"/>
          <a:stretch>
            <a:fillRect/>
          </a:stretch>
        </p:blipFill>
        <p:spPr>
          <a:xfrm>
            <a:off x="10934700" y="500062"/>
            <a:ext cx="723900" cy="247650"/>
          </a:xfrm>
          <a:prstGeom prst="rect">
            <a:avLst/>
          </a:prstGeom>
        </p:spPr>
      </p:pic>
      <p:sp>
        <p:nvSpPr>
          <p:cNvPr id="14" name="TextBox 13"/>
          <p:cNvSpPr txBox="1"/>
          <p:nvPr/>
        </p:nvSpPr>
        <p:spPr>
          <a:xfrm>
            <a:off x="533400" y="1190625"/>
            <a:ext cx="11125200" cy="472380"/>
          </a:xfrm>
          <a:prstGeom prst="rect">
            <a:avLst/>
          </a:prstGeom>
          <a:noFill/>
        </p:spPr>
        <p:txBody>
          <a:bodyPr wrap="square" lIns="0" tIns="0" rIns="0" bIns="0" anchor="t">
            <a:spAutoFit/>
          </a:bodyPr>
          <a:lstStyle/>
          <a:p>
            <a:pPr algn="l">
              <a:lnSpc>
                <a:spcPts val="1860"/>
              </a:lnSpc>
            </a:pPr>
            <a:r>
              <a:rPr sz="1200" b="0" i="0" u="none">
                <a:solidFill>
                  <a:srgbClr val="334155"/>
                </a:solidFill>
                <a:latin typeface="Inter"/>
              </a:rPr>
              <a:t>The system architecture follows a modular pipeline designed for real-time artifact ingestion, agentic reasoning, and interactive forensic report presentation.</a:t>
            </a:r>
          </a:p>
        </p:txBody>
      </p:sp>
      <p:sp>
        <p:nvSpPr>
          <p:cNvPr id="15" name="TextBox 14"/>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16" name="TextBox 15"/>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sp>
        <p:nvSpPr>
          <p:cNvPr id="17" name="TextBox 16"/>
          <p:cNvSpPr txBox="1"/>
          <p:nvPr/>
        </p:nvSpPr>
        <p:spPr>
          <a:xfrm>
            <a:off x="1040342" y="1687632"/>
            <a:ext cx="10831353" cy="238125"/>
          </a:xfrm>
          <a:prstGeom prst="rect">
            <a:avLst/>
          </a:prstGeom>
          <a:noFill/>
        </p:spPr>
        <p:txBody>
          <a:bodyPr wrap="square" lIns="0" tIns="0" rIns="0" bIns="0" anchor="ctr">
            <a:spAutoFit/>
          </a:bodyPr>
          <a:lstStyle/>
          <a:p>
            <a:pPr algn="l"/>
            <a:r>
              <a:rPr sz="1500" b="1" i="0" u="none" dirty="0">
                <a:solidFill>
                  <a:srgbClr val="0F2B5C"/>
                </a:solidFill>
                <a:latin typeface="Plus Jakarta Sans"/>
              </a:rPr>
              <a:t>Key Architectural Components</a:t>
            </a:r>
          </a:p>
        </p:txBody>
      </p:sp>
      <p:pic>
        <p:nvPicPr>
          <p:cNvPr id="29" name="Picture 28" descr="image.png"/>
          <p:cNvPicPr>
            <a:picLocks noChangeAspect="1"/>
          </p:cNvPicPr>
          <p:nvPr/>
        </p:nvPicPr>
        <p:blipFill>
          <a:blip r:embed="rId6"/>
          <a:stretch>
            <a:fillRect/>
          </a:stretch>
        </p:blipFill>
        <p:spPr>
          <a:xfrm>
            <a:off x="710142" y="1687632"/>
            <a:ext cx="219075" cy="190500"/>
          </a:xfrm>
          <a:prstGeom prst="rect">
            <a:avLst/>
          </a:prstGeom>
        </p:spPr>
      </p:pic>
      <p:sp>
        <p:nvSpPr>
          <p:cNvPr id="30" name="TextBox 29"/>
          <p:cNvSpPr txBox="1"/>
          <p:nvPr/>
        </p:nvSpPr>
        <p:spPr>
          <a:xfrm>
            <a:off x="819679" y="2154773"/>
            <a:ext cx="2621756" cy="1477328"/>
          </a:xfrm>
          <a:prstGeom prst="rect">
            <a:avLst/>
          </a:prstGeom>
          <a:noFill/>
        </p:spPr>
        <p:txBody>
          <a:bodyPr wrap="square" lIns="0" tIns="0" rIns="0" bIns="0" anchor="t">
            <a:spAutoFit/>
          </a:bodyPr>
          <a:lstStyle/>
          <a:p>
            <a:pPr marL="171450" indent="-171450">
              <a:buFont typeface="Arial" panose="020B0604020202020204" pitchFamily="34" charset="0"/>
              <a:buChar char="•"/>
            </a:pPr>
            <a:r>
              <a:rPr lang="en-IN" sz="1200" b="1" dirty="0">
                <a:solidFill>
                  <a:srgbClr val="000000"/>
                </a:solidFill>
                <a:latin typeface="Inter"/>
              </a:rPr>
              <a:t>ASN Intelligence Module</a:t>
            </a:r>
          </a:p>
          <a:p>
            <a:pPr marL="171450" indent="-171450">
              <a:buFont typeface="Arial" panose="020B0604020202020204" pitchFamily="34" charset="0"/>
              <a:buChar char="•"/>
            </a:pPr>
            <a:r>
              <a:rPr lang="en-IN" sz="1200" b="1" dirty="0">
                <a:solidFill>
                  <a:srgbClr val="000000"/>
                </a:solidFill>
                <a:latin typeface="Inter"/>
              </a:rPr>
              <a:t>Network Scanner</a:t>
            </a:r>
          </a:p>
          <a:p>
            <a:pPr marL="171450" indent="-171450">
              <a:buFont typeface="Arial" panose="020B0604020202020204" pitchFamily="34" charset="0"/>
              <a:buChar char="•"/>
            </a:pPr>
            <a:r>
              <a:rPr lang="en-IN" sz="1200" b="1" dirty="0">
                <a:solidFill>
                  <a:srgbClr val="000000"/>
                </a:solidFill>
                <a:latin typeface="Inter"/>
              </a:rPr>
              <a:t>Security Perimeter Detection</a:t>
            </a:r>
          </a:p>
          <a:p>
            <a:pPr marL="171450" indent="-171450">
              <a:buFont typeface="Arial" panose="020B0604020202020204" pitchFamily="34" charset="0"/>
              <a:buChar char="•"/>
            </a:pPr>
            <a:r>
              <a:rPr lang="en-IN" sz="1200" b="1" dirty="0">
                <a:solidFill>
                  <a:srgbClr val="000000"/>
                </a:solidFill>
                <a:latin typeface="Inter"/>
              </a:rPr>
              <a:t>IoT Fingerprinting</a:t>
            </a:r>
          </a:p>
          <a:p>
            <a:pPr marL="171450" indent="-171450">
              <a:buFont typeface="Arial" panose="020B0604020202020204" pitchFamily="34" charset="0"/>
              <a:buChar char="•"/>
            </a:pPr>
            <a:r>
              <a:rPr lang="en-IN" sz="1200" b="1" dirty="0">
                <a:solidFill>
                  <a:srgbClr val="000000"/>
                </a:solidFill>
                <a:latin typeface="Inter"/>
              </a:rPr>
              <a:t>Wireless Analysis</a:t>
            </a:r>
          </a:p>
          <a:p>
            <a:pPr marL="171450" indent="-171450">
              <a:buFont typeface="Arial" panose="020B0604020202020204" pitchFamily="34" charset="0"/>
              <a:buChar char="•"/>
            </a:pPr>
            <a:r>
              <a:rPr lang="en-IN" sz="1200" b="1" dirty="0">
                <a:solidFill>
                  <a:srgbClr val="000000"/>
                </a:solidFill>
                <a:latin typeface="Inter"/>
              </a:rPr>
              <a:t>AI Analytics Engine</a:t>
            </a:r>
          </a:p>
          <a:p>
            <a:pPr marL="171450" indent="-171450">
              <a:buFont typeface="Arial" panose="020B0604020202020204" pitchFamily="34" charset="0"/>
              <a:buChar char="•"/>
            </a:pPr>
            <a:r>
              <a:rPr lang="en-IN" sz="1200" b="1" dirty="0" err="1">
                <a:solidFill>
                  <a:srgbClr val="000000"/>
                </a:solidFill>
                <a:latin typeface="Inter"/>
              </a:rPr>
              <a:t>FastAPI</a:t>
            </a:r>
            <a:r>
              <a:rPr lang="en-IN" sz="1200" b="1" dirty="0">
                <a:solidFill>
                  <a:srgbClr val="000000"/>
                </a:solidFill>
                <a:latin typeface="Inter"/>
              </a:rPr>
              <a:t> Dashboard</a:t>
            </a:r>
          </a:p>
          <a:p>
            <a:pPr algn="l"/>
            <a:endParaRPr sz="1200" b="0" i="0" u="none" dirty="0">
              <a:solidFill>
                <a:srgbClr val="000000"/>
              </a:solidFill>
              <a:latin typeface="Inter"/>
            </a:endParaRPr>
          </a:p>
        </p:txBody>
      </p:sp>
      <p:sp>
        <p:nvSpPr>
          <p:cNvPr id="33" name="TextBox 32"/>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Technical Architecture &amp; Workflow</a:t>
            </a:r>
          </a:p>
        </p:txBody>
      </p:sp>
      <p:sp>
        <p:nvSpPr>
          <p:cNvPr id="34" name="Rectangle 33"/>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098C9038-B7CD-588D-B51A-C5095E9FC3E7}"/>
              </a:ext>
            </a:extLst>
          </p:cNvPr>
          <p:cNvSpPr txBox="1"/>
          <p:nvPr/>
        </p:nvSpPr>
        <p:spPr>
          <a:xfrm>
            <a:off x="6240329" y="2146585"/>
            <a:ext cx="2709333" cy="4316566"/>
          </a:xfrm>
          <a:prstGeom prst="rect">
            <a:avLst/>
          </a:prstGeom>
          <a:noFill/>
        </p:spPr>
        <p:txBody>
          <a:bodyPr wrap="square" rtlCol="0">
            <a:spAutoFit/>
          </a:bodyPr>
          <a:lstStyle/>
          <a:p>
            <a:r>
              <a:rPr lang="en-IN" sz="1200" b="1" dirty="0"/>
              <a:t>Target IP</a:t>
            </a:r>
          </a:p>
          <a:p>
            <a:r>
              <a:rPr lang="en-IN" sz="1200" b="1" dirty="0"/>
              <a:t>      │</a:t>
            </a:r>
          </a:p>
          <a:p>
            <a:r>
              <a:rPr lang="en-IN" sz="1200" b="1" dirty="0"/>
              <a:t>      ▼</a:t>
            </a:r>
          </a:p>
          <a:p>
            <a:r>
              <a:rPr lang="en-IN" sz="1200" b="1" dirty="0"/>
              <a:t>ASN &amp; ISP Intelligence</a:t>
            </a:r>
          </a:p>
          <a:p>
            <a:r>
              <a:rPr lang="en-IN" sz="1200" b="1" dirty="0"/>
              <a:t>      │</a:t>
            </a:r>
          </a:p>
          <a:p>
            <a:r>
              <a:rPr lang="en-IN" sz="1200" b="1" dirty="0"/>
              <a:t>      ▼</a:t>
            </a:r>
          </a:p>
          <a:p>
            <a:r>
              <a:rPr lang="en-IN" sz="1200" b="1" dirty="0"/>
              <a:t>Network Reconnaissance</a:t>
            </a:r>
          </a:p>
          <a:p>
            <a:r>
              <a:rPr lang="en-IN" sz="1200" b="1" dirty="0"/>
              <a:t>      │</a:t>
            </a:r>
          </a:p>
          <a:p>
            <a:r>
              <a:rPr lang="en-IN" sz="1200" b="1" dirty="0"/>
              <a:t>      ▼</a:t>
            </a:r>
          </a:p>
          <a:p>
            <a:r>
              <a:rPr lang="en-IN" sz="1200" b="1" dirty="0"/>
              <a:t>Firewall &amp; IDS Detection</a:t>
            </a:r>
          </a:p>
          <a:p>
            <a:r>
              <a:rPr lang="en-IN" sz="1200" b="1" dirty="0"/>
              <a:t>      │</a:t>
            </a:r>
          </a:p>
          <a:p>
            <a:r>
              <a:rPr lang="en-IN" sz="1200" b="1" dirty="0"/>
              <a:t>      ▼</a:t>
            </a:r>
          </a:p>
          <a:p>
            <a:r>
              <a:rPr lang="en-IN" sz="1200" b="1" dirty="0"/>
              <a:t>IoT Device Fingerprinting</a:t>
            </a:r>
          </a:p>
          <a:p>
            <a:r>
              <a:rPr lang="en-IN" sz="1200" b="1" dirty="0"/>
              <a:t>      │</a:t>
            </a:r>
          </a:p>
          <a:p>
            <a:r>
              <a:rPr lang="en-IN" sz="1200" b="1" dirty="0"/>
              <a:t>      ▼</a:t>
            </a:r>
          </a:p>
          <a:p>
            <a:r>
              <a:rPr lang="en-IN" sz="1200" b="1" dirty="0"/>
              <a:t>Wireless Network Intelligence</a:t>
            </a:r>
          </a:p>
          <a:p>
            <a:r>
              <a:rPr lang="en-IN" sz="1200" b="1" dirty="0"/>
              <a:t>      │</a:t>
            </a:r>
          </a:p>
          <a:p>
            <a:r>
              <a:rPr lang="en-IN" sz="1200" b="1" dirty="0"/>
              <a:t>      ▼</a:t>
            </a:r>
          </a:p>
          <a:p>
            <a:r>
              <a:rPr lang="en-IN" sz="1200" b="1" dirty="0"/>
              <a:t>AI/ML Analytics Engine</a:t>
            </a:r>
          </a:p>
          <a:p>
            <a:r>
              <a:rPr lang="en-IN" sz="1200" b="1" dirty="0"/>
              <a:t>      │</a:t>
            </a:r>
          </a:p>
          <a:p>
            <a:r>
              <a:rPr lang="en-IN" sz="1200" b="1" dirty="0"/>
              <a:t>      ▼</a:t>
            </a:r>
          </a:p>
          <a:p>
            <a:r>
              <a:rPr lang="en-IN" sz="1200" b="1" dirty="0"/>
              <a:t>Dashboard &amp; PDF Report</a:t>
            </a:r>
          </a:p>
          <a:p>
            <a:endParaRPr lang="en-IN"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29350" y="1190625"/>
            <a:ext cx="5429250" cy="4191000"/>
          </a:xfrm>
          <a:prstGeom prst="rect">
            <a:avLst/>
          </a:prstGeom>
        </p:spPr>
      </p:pic>
      <p:pic>
        <p:nvPicPr>
          <p:cNvPr id="4" name="Picture 3" descr="image.png"/>
          <p:cNvPicPr>
            <a:picLocks noChangeAspect="1"/>
          </p:cNvPicPr>
          <p:nvPr/>
        </p:nvPicPr>
        <p:blipFill>
          <a:blip r:embed="rId4"/>
          <a:stretch>
            <a:fillRect/>
          </a:stretch>
        </p:blipFill>
        <p:spPr>
          <a:xfrm>
            <a:off x="532342" y="1226714"/>
            <a:ext cx="5429250" cy="2512516"/>
          </a:xfrm>
          <a:prstGeom prst="rect">
            <a:avLst/>
          </a:prstGeom>
        </p:spPr>
      </p:pic>
      <p:pic>
        <p:nvPicPr>
          <p:cNvPr id="5" name="Picture 4" descr="image.png"/>
          <p:cNvPicPr>
            <a:picLocks noChangeAspect="1"/>
          </p:cNvPicPr>
          <p:nvPr/>
        </p:nvPicPr>
        <p:blipFill>
          <a:blip r:embed="rId5"/>
          <a:stretch>
            <a:fillRect/>
          </a:stretch>
        </p:blipFill>
        <p:spPr>
          <a:xfrm>
            <a:off x="533400" y="3893641"/>
            <a:ext cx="5429250" cy="2276326"/>
          </a:xfrm>
          <a:prstGeom prst="rect">
            <a:avLst/>
          </a:prstGeom>
        </p:spPr>
      </p:pic>
      <p:pic>
        <p:nvPicPr>
          <p:cNvPr id="6" name="Picture 5" descr="image.png"/>
          <p:cNvPicPr>
            <a:picLocks noChangeAspect="1"/>
          </p:cNvPicPr>
          <p:nvPr/>
        </p:nvPicPr>
        <p:blipFill>
          <a:blip r:embed="rId6"/>
          <a:stretch>
            <a:fillRect/>
          </a:stretch>
        </p:blipFill>
        <p:spPr>
          <a:xfrm>
            <a:off x="533400" y="6438900"/>
            <a:ext cx="11125200" cy="247650"/>
          </a:xfrm>
          <a:prstGeom prst="rect">
            <a:avLst/>
          </a:prstGeom>
        </p:spPr>
      </p:pic>
      <p:pic>
        <p:nvPicPr>
          <p:cNvPr id="7" name="Picture 6" descr="image.png"/>
          <p:cNvPicPr>
            <a:picLocks noChangeAspect="1"/>
          </p:cNvPicPr>
          <p:nvPr/>
        </p:nvPicPr>
        <p:blipFill>
          <a:blip r:embed="rId7"/>
          <a:stretch>
            <a:fillRect/>
          </a:stretch>
        </p:blipFill>
        <p:spPr>
          <a:xfrm>
            <a:off x="10934700" y="500062"/>
            <a:ext cx="723900" cy="247650"/>
          </a:xfrm>
          <a:prstGeom prst="rect">
            <a:avLst/>
          </a:prstGeom>
        </p:spPr>
      </p:pic>
      <p:sp>
        <p:nvSpPr>
          <p:cNvPr id="8" name="TextBox 7"/>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9" name="TextBox 8"/>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pic>
        <p:nvPicPr>
          <p:cNvPr id="10" name="Picture 9" descr="image.png"/>
          <p:cNvPicPr>
            <a:picLocks noChangeAspect="1"/>
          </p:cNvPicPr>
          <p:nvPr/>
        </p:nvPicPr>
        <p:blipFill>
          <a:blip r:embed="rId8"/>
          <a:stretch>
            <a:fillRect/>
          </a:stretch>
        </p:blipFill>
        <p:spPr>
          <a:xfrm>
            <a:off x="6238875" y="1200150"/>
            <a:ext cx="5410200" cy="4171950"/>
          </a:xfrm>
          <a:prstGeom prst="rect">
            <a:avLst/>
          </a:prstGeom>
        </p:spPr>
      </p:pic>
      <p:sp>
        <p:nvSpPr>
          <p:cNvPr id="11" name="TextBox 10"/>
          <p:cNvSpPr txBox="1"/>
          <p:nvPr/>
        </p:nvSpPr>
        <p:spPr>
          <a:xfrm>
            <a:off x="1133475" y="1419225"/>
            <a:ext cx="4830603" cy="238125"/>
          </a:xfrm>
          <a:prstGeom prst="rect">
            <a:avLst/>
          </a:prstGeom>
          <a:noFill/>
        </p:spPr>
        <p:txBody>
          <a:bodyPr wrap="square" lIns="0" tIns="0" rIns="0" bIns="0" anchor="ctr">
            <a:spAutoFit/>
          </a:bodyPr>
          <a:lstStyle/>
          <a:p>
            <a:pPr algn="l"/>
            <a:r>
              <a:rPr sz="1500" b="1" i="0" u="none">
                <a:solidFill>
                  <a:srgbClr val="0F2B5C"/>
                </a:solidFill>
                <a:latin typeface="Plus Jakarta Sans"/>
              </a:rPr>
              <a:t>Role of Autonomous Agents</a:t>
            </a:r>
          </a:p>
        </p:txBody>
      </p:sp>
      <p:sp>
        <p:nvSpPr>
          <p:cNvPr id="12" name="TextBox 11"/>
          <p:cNvSpPr txBox="1"/>
          <p:nvPr/>
        </p:nvSpPr>
        <p:spPr>
          <a:xfrm>
            <a:off x="1085850" y="4122241"/>
            <a:ext cx="4880610" cy="238125"/>
          </a:xfrm>
          <a:prstGeom prst="rect">
            <a:avLst/>
          </a:prstGeom>
          <a:noFill/>
        </p:spPr>
        <p:txBody>
          <a:bodyPr wrap="square" lIns="0" tIns="0" rIns="0" bIns="0" anchor="ctr">
            <a:spAutoFit/>
          </a:bodyPr>
          <a:lstStyle/>
          <a:p>
            <a:pPr algn="l"/>
            <a:r>
              <a:rPr sz="1500" b="1" i="0" u="none">
                <a:solidFill>
                  <a:srgbClr val="0F2B5C"/>
                </a:solidFill>
                <a:latin typeface="Plus Jakarta Sans"/>
              </a:rPr>
              <a:t>Models &amp; Frameworks Used</a:t>
            </a:r>
          </a:p>
        </p:txBody>
      </p:sp>
      <p:pic>
        <p:nvPicPr>
          <p:cNvPr id="13" name="Picture 12" descr="image.png"/>
          <p:cNvPicPr>
            <a:picLocks noChangeAspect="1"/>
          </p:cNvPicPr>
          <p:nvPr/>
        </p:nvPicPr>
        <p:blipFill>
          <a:blip r:embed="rId9"/>
          <a:stretch>
            <a:fillRect/>
          </a:stretch>
        </p:blipFill>
        <p:spPr>
          <a:xfrm>
            <a:off x="800100" y="1443037"/>
            <a:ext cx="238125" cy="190500"/>
          </a:xfrm>
          <a:prstGeom prst="rect">
            <a:avLst/>
          </a:prstGeom>
        </p:spPr>
      </p:pic>
      <p:sp>
        <p:nvSpPr>
          <p:cNvPr id="15" name="TextBox 14"/>
          <p:cNvSpPr txBox="1"/>
          <p:nvPr/>
        </p:nvSpPr>
        <p:spPr>
          <a:xfrm>
            <a:off x="990600" y="1771650"/>
            <a:ext cx="4743450" cy="1441677"/>
          </a:xfrm>
          <a:prstGeom prst="rect">
            <a:avLst/>
          </a:prstGeom>
          <a:noFill/>
        </p:spPr>
        <p:txBody>
          <a:bodyPr wrap="square" lIns="85725" tIns="0" rIns="0" bIns="0" anchor="t">
            <a:spAutoFit/>
          </a:bodyPr>
          <a:lstStyle/>
          <a:p>
            <a:pPr marL="171450" indent="-171450">
              <a:lnSpc>
                <a:spcPts val="1860"/>
              </a:lnSpc>
              <a:buFont typeface="Arial" panose="020B0604020202020204" pitchFamily="34" charset="0"/>
              <a:buChar char="•"/>
            </a:pPr>
            <a:r>
              <a:rPr lang="en-US" sz="1200" b="1" dirty="0">
                <a:solidFill>
                  <a:srgbClr val="334155"/>
                </a:solidFill>
                <a:latin typeface="Inter"/>
              </a:rPr>
              <a:t>Automated risk scoring</a:t>
            </a:r>
          </a:p>
          <a:p>
            <a:pPr marL="171450" indent="-171450">
              <a:lnSpc>
                <a:spcPts val="1860"/>
              </a:lnSpc>
              <a:buFont typeface="Arial" panose="020B0604020202020204" pitchFamily="34" charset="0"/>
              <a:buChar char="•"/>
            </a:pPr>
            <a:r>
              <a:rPr lang="en-US" sz="1200" b="1" dirty="0">
                <a:solidFill>
                  <a:srgbClr val="334155"/>
                </a:solidFill>
                <a:latin typeface="Inter"/>
              </a:rPr>
              <a:t>Device classification</a:t>
            </a:r>
          </a:p>
          <a:p>
            <a:pPr marL="171450" indent="-171450">
              <a:lnSpc>
                <a:spcPts val="1860"/>
              </a:lnSpc>
              <a:buFont typeface="Arial" panose="020B0604020202020204" pitchFamily="34" charset="0"/>
              <a:buChar char="•"/>
            </a:pPr>
            <a:r>
              <a:rPr lang="en-US" sz="1200" b="1" dirty="0">
                <a:solidFill>
                  <a:srgbClr val="334155"/>
                </a:solidFill>
                <a:latin typeface="Inter"/>
              </a:rPr>
              <a:t>Threat prioritization</a:t>
            </a:r>
          </a:p>
          <a:p>
            <a:pPr marL="171450" indent="-171450">
              <a:lnSpc>
                <a:spcPts val="1860"/>
              </a:lnSpc>
              <a:buFont typeface="Arial" panose="020B0604020202020204" pitchFamily="34" charset="0"/>
              <a:buChar char="•"/>
            </a:pPr>
            <a:r>
              <a:rPr lang="en-US" sz="1200" b="1" dirty="0">
                <a:solidFill>
                  <a:srgbClr val="334155"/>
                </a:solidFill>
                <a:latin typeface="Inter"/>
              </a:rPr>
              <a:t>Intelligent security recommendations</a:t>
            </a:r>
          </a:p>
          <a:p>
            <a:pPr marL="171450" indent="-171450">
              <a:lnSpc>
                <a:spcPts val="1860"/>
              </a:lnSpc>
              <a:buFont typeface="Arial" panose="020B0604020202020204" pitchFamily="34" charset="0"/>
              <a:buChar char="•"/>
            </a:pPr>
            <a:r>
              <a:rPr lang="en-US" sz="1200" b="1" dirty="0">
                <a:solidFill>
                  <a:srgbClr val="334155"/>
                </a:solidFill>
                <a:latin typeface="Inter"/>
              </a:rPr>
              <a:t>Faster decision-making</a:t>
            </a:r>
          </a:p>
          <a:p>
            <a:pPr algn="l">
              <a:lnSpc>
                <a:spcPts val="1860"/>
              </a:lnSpc>
            </a:pPr>
            <a:endParaRPr sz="1200" b="0" i="0" u="none" dirty="0">
              <a:solidFill>
                <a:srgbClr val="334155"/>
              </a:solidFill>
              <a:latin typeface="Inter"/>
            </a:endParaRPr>
          </a:p>
        </p:txBody>
      </p:sp>
      <p:pic>
        <p:nvPicPr>
          <p:cNvPr id="20" name="Picture 19" descr="image.png"/>
          <p:cNvPicPr>
            <a:picLocks noChangeAspect="1"/>
          </p:cNvPicPr>
          <p:nvPr/>
        </p:nvPicPr>
        <p:blipFill>
          <a:blip r:embed="rId10"/>
          <a:stretch>
            <a:fillRect/>
          </a:stretch>
        </p:blipFill>
        <p:spPr>
          <a:xfrm>
            <a:off x="800100" y="4146053"/>
            <a:ext cx="190500" cy="190500"/>
          </a:xfrm>
          <a:prstGeom prst="rect">
            <a:avLst/>
          </a:prstGeom>
        </p:spPr>
      </p:pic>
      <p:sp>
        <p:nvSpPr>
          <p:cNvPr id="27" name="TextBox 26"/>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Agentic AI &amp; LLM Integration</a:t>
            </a:r>
          </a:p>
        </p:txBody>
      </p:sp>
      <p:sp>
        <p:nvSpPr>
          <p:cNvPr id="28" name="Rectangle 27"/>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F598AE9B-1B4A-A556-5FA1-E9F5B346C447}"/>
              </a:ext>
            </a:extLst>
          </p:cNvPr>
          <p:cNvSpPr txBox="1"/>
          <p:nvPr/>
        </p:nvSpPr>
        <p:spPr>
          <a:xfrm>
            <a:off x="1038225" y="4514777"/>
            <a:ext cx="2238241" cy="1384995"/>
          </a:xfrm>
          <a:prstGeom prst="rect">
            <a:avLst/>
          </a:prstGeom>
          <a:noFill/>
        </p:spPr>
        <p:txBody>
          <a:bodyPr wrap="none" rtlCol="0">
            <a:spAutoFit/>
          </a:bodyPr>
          <a:lstStyle/>
          <a:p>
            <a:pPr marL="171450" indent="-171450">
              <a:buFont typeface="Arial" panose="020B0604020202020204" pitchFamily="34" charset="0"/>
              <a:buChar char="•"/>
            </a:pPr>
            <a:r>
              <a:rPr lang="en-IN" sz="1200" b="1" dirty="0"/>
              <a:t>Python</a:t>
            </a:r>
          </a:p>
          <a:p>
            <a:pPr marL="171450" indent="-171450">
              <a:buFont typeface="Arial" panose="020B0604020202020204" pitchFamily="34" charset="0"/>
              <a:buChar char="•"/>
            </a:pPr>
            <a:r>
              <a:rPr lang="en-IN" sz="1200" b="1" dirty="0"/>
              <a:t>Scikit-learn</a:t>
            </a:r>
          </a:p>
          <a:p>
            <a:pPr marL="171450" indent="-171450">
              <a:buFont typeface="Arial" panose="020B0604020202020204" pitchFamily="34" charset="0"/>
              <a:buChar char="•"/>
            </a:pPr>
            <a:r>
              <a:rPr lang="en-IN" sz="1200" b="1" dirty="0"/>
              <a:t>Pandas</a:t>
            </a:r>
          </a:p>
          <a:p>
            <a:pPr marL="171450" indent="-171450">
              <a:buFont typeface="Arial" panose="020B0604020202020204" pitchFamily="34" charset="0"/>
              <a:buChar char="•"/>
            </a:pPr>
            <a:r>
              <a:rPr lang="en-IN" sz="1200" b="1" dirty="0"/>
              <a:t>NumPy</a:t>
            </a:r>
          </a:p>
          <a:p>
            <a:pPr marL="171450" indent="-171450">
              <a:buFont typeface="Arial" panose="020B0604020202020204" pitchFamily="34" charset="0"/>
              <a:buChar char="•"/>
            </a:pPr>
            <a:r>
              <a:rPr lang="en-IN" sz="1200" b="1" dirty="0" err="1"/>
              <a:t>FastAPI</a:t>
            </a:r>
            <a:endParaRPr lang="en-IN" sz="1200" b="1" dirty="0"/>
          </a:p>
          <a:p>
            <a:pPr marL="171450" indent="-171450">
              <a:buFont typeface="Arial" panose="020B0604020202020204" pitchFamily="34" charset="0"/>
              <a:buChar char="•"/>
            </a:pPr>
            <a:r>
              <a:rPr lang="en-IN" sz="1200" b="1" dirty="0"/>
              <a:t>Machine Learning Algorithms</a:t>
            </a:r>
          </a:p>
          <a:p>
            <a:endParaRPr lang="en-IN"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172075" y="1860295"/>
            <a:ext cx="5422265" cy="4582373"/>
          </a:xfrm>
          <a:prstGeom prst="rect">
            <a:avLst/>
          </a:prstGeom>
        </p:spPr>
      </p:pic>
      <p:pic>
        <p:nvPicPr>
          <p:cNvPr id="4" name="Picture 3" descr="image.png"/>
          <p:cNvPicPr>
            <a:picLocks noChangeAspect="1"/>
          </p:cNvPicPr>
          <p:nvPr/>
        </p:nvPicPr>
        <p:blipFill>
          <a:blip r:embed="rId4"/>
          <a:stretch>
            <a:fillRect/>
          </a:stretch>
        </p:blipFill>
        <p:spPr>
          <a:xfrm>
            <a:off x="304800" y="1192611"/>
            <a:ext cx="4376103" cy="5312964"/>
          </a:xfrm>
          <a:prstGeom prst="rect">
            <a:avLst/>
          </a:prstGeom>
        </p:spPr>
      </p:pic>
      <p:pic>
        <p:nvPicPr>
          <p:cNvPr id="7" name="Picture 6" descr="image.png"/>
          <p:cNvPicPr>
            <a:picLocks noChangeAspect="1"/>
          </p:cNvPicPr>
          <p:nvPr/>
        </p:nvPicPr>
        <p:blipFill>
          <a:blip r:embed="rId5"/>
          <a:stretch>
            <a:fillRect/>
          </a:stretch>
        </p:blipFill>
        <p:spPr>
          <a:xfrm>
            <a:off x="533400" y="6438900"/>
            <a:ext cx="11125200" cy="247650"/>
          </a:xfrm>
          <a:prstGeom prst="rect">
            <a:avLst/>
          </a:prstGeom>
        </p:spPr>
      </p:pic>
      <p:pic>
        <p:nvPicPr>
          <p:cNvPr id="8" name="Picture 7" descr="image.png"/>
          <p:cNvPicPr>
            <a:picLocks noChangeAspect="1"/>
          </p:cNvPicPr>
          <p:nvPr/>
        </p:nvPicPr>
        <p:blipFill>
          <a:blip r:embed="rId6"/>
          <a:stretch>
            <a:fillRect/>
          </a:stretch>
        </p:blipFill>
        <p:spPr>
          <a:xfrm>
            <a:off x="10944225" y="500062"/>
            <a:ext cx="714375" cy="247650"/>
          </a:xfrm>
          <a:prstGeom prst="rect">
            <a:avLst/>
          </a:prstGeom>
        </p:spPr>
      </p:pic>
      <p:sp>
        <p:nvSpPr>
          <p:cNvPr id="9" name="TextBox 8"/>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10" name="TextBox 9"/>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sp>
        <p:nvSpPr>
          <p:cNvPr id="11" name="TextBox 10"/>
          <p:cNvSpPr txBox="1"/>
          <p:nvPr/>
        </p:nvSpPr>
        <p:spPr>
          <a:xfrm>
            <a:off x="5457825" y="1439846"/>
            <a:ext cx="4880610" cy="238125"/>
          </a:xfrm>
          <a:prstGeom prst="rect">
            <a:avLst/>
          </a:prstGeom>
          <a:noFill/>
        </p:spPr>
        <p:txBody>
          <a:bodyPr wrap="square" lIns="0" tIns="0" rIns="0" bIns="0" anchor="ctr">
            <a:spAutoFit/>
          </a:bodyPr>
          <a:lstStyle/>
          <a:p>
            <a:pPr algn="l"/>
            <a:r>
              <a:rPr sz="1500" b="1" i="0" u="none" dirty="0">
                <a:solidFill>
                  <a:srgbClr val="0F2B5C"/>
                </a:solidFill>
                <a:latin typeface="Plus Jakarta Sans"/>
              </a:rPr>
              <a:t>Tools &amp; Tech Stack</a:t>
            </a:r>
          </a:p>
        </p:txBody>
      </p:sp>
      <p:sp>
        <p:nvSpPr>
          <p:cNvPr id="12" name="TextBox 11"/>
          <p:cNvSpPr txBox="1"/>
          <p:nvPr/>
        </p:nvSpPr>
        <p:spPr>
          <a:xfrm>
            <a:off x="1101090" y="1436077"/>
            <a:ext cx="4880610" cy="238125"/>
          </a:xfrm>
          <a:prstGeom prst="rect">
            <a:avLst/>
          </a:prstGeom>
          <a:noFill/>
        </p:spPr>
        <p:txBody>
          <a:bodyPr wrap="square" lIns="0" tIns="0" rIns="0" bIns="0" anchor="ctr">
            <a:spAutoFit/>
          </a:bodyPr>
          <a:lstStyle/>
          <a:p>
            <a:pPr algn="l"/>
            <a:r>
              <a:rPr sz="1500" b="1" i="0" u="none" dirty="0">
                <a:solidFill>
                  <a:srgbClr val="0F2B5C"/>
                </a:solidFill>
                <a:latin typeface="Plus Jakarta Sans"/>
              </a:rPr>
              <a:t>Implementation Status</a:t>
            </a:r>
          </a:p>
        </p:txBody>
      </p:sp>
      <p:sp>
        <p:nvSpPr>
          <p:cNvPr id="14" name="TextBox 13"/>
          <p:cNvSpPr txBox="1"/>
          <p:nvPr/>
        </p:nvSpPr>
        <p:spPr>
          <a:xfrm>
            <a:off x="6496050" y="1771650"/>
            <a:ext cx="4933950" cy="177293"/>
          </a:xfrm>
          <a:prstGeom prst="rect">
            <a:avLst/>
          </a:prstGeom>
          <a:noFill/>
        </p:spPr>
        <p:txBody>
          <a:bodyPr wrap="square" lIns="0" tIns="0" rIns="0" bIns="0" anchor="t">
            <a:spAutoFit/>
          </a:bodyPr>
          <a:lstStyle/>
          <a:p>
            <a:pPr algn="l">
              <a:lnSpc>
                <a:spcPts val="1511"/>
              </a:lnSpc>
            </a:pPr>
            <a:r>
              <a:rPr sz="975" b="0" i="0" u="none" dirty="0">
                <a:solidFill>
                  <a:srgbClr val="64748B"/>
                </a:solidFill>
                <a:latin typeface="Inter"/>
              </a:rPr>
              <a:t>:</a:t>
            </a:r>
          </a:p>
        </p:txBody>
      </p:sp>
      <p:pic>
        <p:nvPicPr>
          <p:cNvPr id="15" name="Picture 14" descr="image.png"/>
          <p:cNvPicPr>
            <a:picLocks noChangeAspect="1"/>
          </p:cNvPicPr>
          <p:nvPr/>
        </p:nvPicPr>
        <p:blipFill>
          <a:blip r:embed="rId7"/>
          <a:stretch>
            <a:fillRect/>
          </a:stretch>
        </p:blipFill>
        <p:spPr>
          <a:xfrm>
            <a:off x="5172075" y="1487471"/>
            <a:ext cx="190500" cy="190500"/>
          </a:xfrm>
          <a:prstGeom prst="rect">
            <a:avLst/>
          </a:prstGeom>
        </p:spPr>
      </p:pic>
      <p:sp>
        <p:nvSpPr>
          <p:cNvPr id="21" name="TextBox 20"/>
          <p:cNvSpPr txBox="1"/>
          <p:nvPr/>
        </p:nvSpPr>
        <p:spPr>
          <a:xfrm>
            <a:off x="5442903" y="1908557"/>
            <a:ext cx="4743450" cy="4365554"/>
          </a:xfrm>
          <a:prstGeom prst="rect">
            <a:avLst/>
          </a:prstGeom>
          <a:noFill/>
        </p:spPr>
        <p:txBody>
          <a:bodyPr wrap="square" lIns="85725" tIns="0" rIns="0" bIns="0" anchor="t">
            <a:spAutoFit/>
          </a:bodyPr>
          <a:lstStyle/>
          <a:p>
            <a:pPr>
              <a:lnSpc>
                <a:spcPts val="1860"/>
              </a:lnSpc>
            </a:pPr>
            <a:r>
              <a:rPr sz="1600" b="1" i="0" u="none" dirty="0">
                <a:solidFill>
                  <a:srgbClr val="334155"/>
                </a:solidFill>
                <a:latin typeface="Inter"/>
              </a:rPr>
              <a:t>.</a:t>
            </a:r>
            <a:r>
              <a:rPr lang="en-IN" sz="1600" b="1" dirty="0">
                <a:solidFill>
                  <a:srgbClr val="334155"/>
                </a:solidFill>
                <a:latin typeface="Inter"/>
              </a:rPr>
              <a:t> Programming Language</a:t>
            </a:r>
          </a:p>
          <a:p>
            <a:pPr>
              <a:lnSpc>
                <a:spcPts val="1860"/>
              </a:lnSpc>
            </a:pPr>
            <a:endParaRPr lang="en-IN" sz="1600" b="1" dirty="0">
              <a:solidFill>
                <a:srgbClr val="334155"/>
              </a:solidFill>
              <a:latin typeface="Inter"/>
            </a:endParaRPr>
          </a:p>
          <a:p>
            <a:pPr marL="171450" indent="-171450">
              <a:lnSpc>
                <a:spcPts val="1860"/>
              </a:lnSpc>
              <a:buFont typeface="Arial" panose="020B0604020202020204" pitchFamily="34" charset="0"/>
              <a:buChar char="•"/>
            </a:pPr>
            <a:r>
              <a:rPr lang="en-IN" sz="1600" b="1" dirty="0">
                <a:solidFill>
                  <a:srgbClr val="334155"/>
                </a:solidFill>
                <a:latin typeface="Inter"/>
              </a:rPr>
              <a:t>Python</a:t>
            </a:r>
          </a:p>
          <a:p>
            <a:pPr>
              <a:lnSpc>
                <a:spcPts val="1860"/>
              </a:lnSpc>
            </a:pPr>
            <a:endParaRPr lang="en-IN" sz="1600" b="1" dirty="0">
              <a:solidFill>
                <a:srgbClr val="334155"/>
              </a:solidFill>
              <a:latin typeface="Inter"/>
            </a:endParaRPr>
          </a:p>
          <a:p>
            <a:pPr>
              <a:lnSpc>
                <a:spcPts val="1860"/>
              </a:lnSpc>
            </a:pPr>
            <a:r>
              <a:rPr lang="en-IN" sz="1600" b="1" dirty="0">
                <a:solidFill>
                  <a:srgbClr val="334155"/>
                </a:solidFill>
                <a:latin typeface="Inter"/>
              </a:rPr>
              <a:t>Frameworks</a:t>
            </a:r>
          </a:p>
          <a:p>
            <a:pPr>
              <a:lnSpc>
                <a:spcPts val="1860"/>
              </a:lnSpc>
            </a:pPr>
            <a:endParaRPr lang="en-IN" sz="1600" b="1" dirty="0">
              <a:solidFill>
                <a:srgbClr val="334155"/>
              </a:solidFill>
              <a:latin typeface="Inter"/>
            </a:endParaRPr>
          </a:p>
          <a:p>
            <a:pPr marL="171450" indent="-171450">
              <a:lnSpc>
                <a:spcPts val="1860"/>
              </a:lnSpc>
              <a:buFont typeface="Arial" panose="020B0604020202020204" pitchFamily="34" charset="0"/>
              <a:buChar char="•"/>
            </a:pPr>
            <a:r>
              <a:rPr lang="en-IN" sz="1600" b="1" dirty="0" err="1">
                <a:solidFill>
                  <a:srgbClr val="334155"/>
                </a:solidFill>
                <a:latin typeface="Inter"/>
              </a:rPr>
              <a:t>FastAPI</a:t>
            </a:r>
            <a:endParaRPr lang="en-IN" sz="1600" b="1" dirty="0">
              <a:solidFill>
                <a:srgbClr val="334155"/>
              </a:solidFill>
              <a:latin typeface="Inter"/>
            </a:endParaRPr>
          </a:p>
          <a:p>
            <a:pPr marL="171450" indent="-171450">
              <a:lnSpc>
                <a:spcPts val="1860"/>
              </a:lnSpc>
              <a:buFont typeface="Arial" panose="020B0604020202020204" pitchFamily="34" charset="0"/>
              <a:buChar char="•"/>
            </a:pPr>
            <a:r>
              <a:rPr lang="en-IN" sz="1600" b="1" dirty="0">
                <a:solidFill>
                  <a:srgbClr val="334155"/>
                </a:solidFill>
                <a:latin typeface="Inter"/>
              </a:rPr>
              <a:t>HTML</a:t>
            </a:r>
          </a:p>
          <a:p>
            <a:pPr marL="171450" indent="-171450">
              <a:lnSpc>
                <a:spcPts val="1860"/>
              </a:lnSpc>
              <a:buFont typeface="Arial" panose="020B0604020202020204" pitchFamily="34" charset="0"/>
              <a:buChar char="•"/>
            </a:pPr>
            <a:r>
              <a:rPr lang="en-IN" sz="1600" b="1" dirty="0">
                <a:solidFill>
                  <a:srgbClr val="334155"/>
                </a:solidFill>
                <a:latin typeface="Inter"/>
              </a:rPr>
              <a:t>CSS</a:t>
            </a:r>
          </a:p>
          <a:p>
            <a:pPr marL="171450" indent="-171450">
              <a:lnSpc>
                <a:spcPts val="1860"/>
              </a:lnSpc>
              <a:buFont typeface="Arial" panose="020B0604020202020204" pitchFamily="34" charset="0"/>
              <a:buChar char="•"/>
            </a:pPr>
            <a:r>
              <a:rPr lang="en-IN" sz="1600" b="1" dirty="0">
                <a:solidFill>
                  <a:srgbClr val="334155"/>
                </a:solidFill>
                <a:latin typeface="Inter"/>
              </a:rPr>
              <a:t>JavaScript</a:t>
            </a:r>
          </a:p>
          <a:p>
            <a:pPr>
              <a:lnSpc>
                <a:spcPts val="1860"/>
              </a:lnSpc>
            </a:pPr>
            <a:endParaRPr lang="en-IN" sz="1600" b="1" dirty="0">
              <a:solidFill>
                <a:srgbClr val="334155"/>
              </a:solidFill>
              <a:latin typeface="Inter"/>
            </a:endParaRPr>
          </a:p>
          <a:p>
            <a:pPr>
              <a:lnSpc>
                <a:spcPts val="1860"/>
              </a:lnSpc>
            </a:pPr>
            <a:r>
              <a:rPr lang="en-IN" sz="1600" b="1" dirty="0">
                <a:solidFill>
                  <a:srgbClr val="334155"/>
                </a:solidFill>
                <a:latin typeface="Inter"/>
              </a:rPr>
              <a:t>Libraries</a:t>
            </a:r>
          </a:p>
          <a:p>
            <a:pPr>
              <a:lnSpc>
                <a:spcPts val="1860"/>
              </a:lnSpc>
            </a:pPr>
            <a:endParaRPr lang="en-IN" sz="1600" b="1" dirty="0">
              <a:solidFill>
                <a:srgbClr val="334155"/>
              </a:solidFill>
              <a:latin typeface="Inter"/>
            </a:endParaRPr>
          </a:p>
          <a:p>
            <a:pPr marL="171450" indent="-171450">
              <a:lnSpc>
                <a:spcPts val="1860"/>
              </a:lnSpc>
              <a:buFont typeface="Arial" panose="020B0604020202020204" pitchFamily="34" charset="0"/>
              <a:buChar char="•"/>
            </a:pPr>
            <a:r>
              <a:rPr lang="en-IN" sz="1600" b="1" dirty="0" err="1">
                <a:solidFill>
                  <a:srgbClr val="334155"/>
                </a:solidFill>
                <a:latin typeface="Inter"/>
              </a:rPr>
              <a:t>Scapy</a:t>
            </a:r>
            <a:endParaRPr lang="en-IN" sz="1600" b="1" dirty="0">
              <a:solidFill>
                <a:srgbClr val="334155"/>
              </a:solidFill>
              <a:latin typeface="Inter"/>
            </a:endParaRPr>
          </a:p>
          <a:p>
            <a:pPr marL="171450" indent="-171450">
              <a:lnSpc>
                <a:spcPts val="1860"/>
              </a:lnSpc>
              <a:buFont typeface="Arial" panose="020B0604020202020204" pitchFamily="34" charset="0"/>
              <a:buChar char="•"/>
            </a:pPr>
            <a:r>
              <a:rPr lang="en-IN" sz="1600" b="1" dirty="0">
                <a:solidFill>
                  <a:srgbClr val="334155"/>
                </a:solidFill>
                <a:latin typeface="Inter"/>
              </a:rPr>
              <a:t>Nmap</a:t>
            </a:r>
          </a:p>
          <a:p>
            <a:pPr marL="171450" indent="-171450">
              <a:lnSpc>
                <a:spcPts val="1860"/>
              </a:lnSpc>
              <a:buFont typeface="Arial" panose="020B0604020202020204" pitchFamily="34" charset="0"/>
              <a:buChar char="•"/>
            </a:pPr>
            <a:r>
              <a:rPr lang="en-IN" sz="1600" b="1" dirty="0">
                <a:solidFill>
                  <a:srgbClr val="334155"/>
                </a:solidFill>
                <a:latin typeface="Inter"/>
              </a:rPr>
              <a:t>Pandas</a:t>
            </a:r>
          </a:p>
          <a:p>
            <a:pPr marL="171450" indent="-171450">
              <a:lnSpc>
                <a:spcPts val="1860"/>
              </a:lnSpc>
              <a:buFont typeface="Arial" panose="020B0604020202020204" pitchFamily="34" charset="0"/>
              <a:buChar char="•"/>
            </a:pPr>
            <a:r>
              <a:rPr lang="en-IN" sz="1600" b="1" dirty="0">
                <a:solidFill>
                  <a:srgbClr val="334155"/>
                </a:solidFill>
                <a:latin typeface="Inter"/>
              </a:rPr>
              <a:t>NumPy</a:t>
            </a:r>
          </a:p>
          <a:p>
            <a:pPr marL="171450" indent="-171450">
              <a:lnSpc>
                <a:spcPts val="1860"/>
              </a:lnSpc>
              <a:buFont typeface="Arial" panose="020B0604020202020204" pitchFamily="34" charset="0"/>
              <a:buChar char="•"/>
            </a:pPr>
            <a:r>
              <a:rPr lang="en-IN" sz="1600" b="1" dirty="0">
                <a:solidFill>
                  <a:srgbClr val="334155"/>
                </a:solidFill>
                <a:latin typeface="Inter"/>
              </a:rPr>
              <a:t>Scikit-learn</a:t>
            </a:r>
            <a:endParaRPr sz="1600" b="1" i="0" u="none" dirty="0">
              <a:solidFill>
                <a:srgbClr val="334155"/>
              </a:solidFill>
              <a:latin typeface="Inter"/>
            </a:endParaRPr>
          </a:p>
        </p:txBody>
      </p:sp>
      <p:pic>
        <p:nvPicPr>
          <p:cNvPr id="24" name="Picture 23" descr="image.png"/>
          <p:cNvPicPr>
            <a:picLocks noChangeAspect="1"/>
          </p:cNvPicPr>
          <p:nvPr/>
        </p:nvPicPr>
        <p:blipFill>
          <a:blip r:embed="rId8"/>
          <a:stretch>
            <a:fillRect/>
          </a:stretch>
        </p:blipFill>
        <p:spPr>
          <a:xfrm>
            <a:off x="719772" y="1487471"/>
            <a:ext cx="190500" cy="190500"/>
          </a:xfrm>
          <a:prstGeom prst="rect">
            <a:avLst/>
          </a:prstGeom>
        </p:spPr>
      </p:pic>
      <p:sp>
        <p:nvSpPr>
          <p:cNvPr id="32" name="TextBox 31"/>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Implementation &amp; Tools</a:t>
            </a:r>
          </a:p>
        </p:txBody>
      </p:sp>
      <p:sp>
        <p:nvSpPr>
          <p:cNvPr id="33" name="Rectangle 32"/>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00BD83E0-4927-19D4-C6B4-8098C975426F}"/>
              </a:ext>
            </a:extLst>
          </p:cNvPr>
          <p:cNvSpPr txBox="1"/>
          <p:nvPr/>
        </p:nvSpPr>
        <p:spPr>
          <a:xfrm>
            <a:off x="719772" y="2133600"/>
            <a:ext cx="3696718" cy="3416320"/>
          </a:xfrm>
          <a:prstGeom prst="rect">
            <a:avLst/>
          </a:prstGeom>
          <a:noFill/>
        </p:spPr>
        <p:txBody>
          <a:bodyPr wrap="none" rtlCol="0">
            <a:spAutoFit/>
          </a:bodyPr>
          <a:lstStyle/>
          <a:p>
            <a:r>
              <a:rPr lang="en-IN" dirty="0"/>
              <a:t>✔ Network Reconnaissance</a:t>
            </a:r>
          </a:p>
          <a:p>
            <a:endParaRPr lang="en-IN" dirty="0"/>
          </a:p>
          <a:p>
            <a:r>
              <a:rPr lang="en-IN" dirty="0"/>
              <a:t>✔ Firewall Detection</a:t>
            </a:r>
          </a:p>
          <a:p>
            <a:endParaRPr lang="en-IN" dirty="0"/>
          </a:p>
          <a:p>
            <a:r>
              <a:rPr lang="en-IN" dirty="0"/>
              <a:t>✔ IoT Discovery</a:t>
            </a:r>
          </a:p>
          <a:p>
            <a:endParaRPr lang="en-IN" dirty="0"/>
          </a:p>
          <a:p>
            <a:r>
              <a:rPr lang="en-IN" dirty="0"/>
              <a:t>✔ AI Risk Analysis</a:t>
            </a:r>
          </a:p>
          <a:p>
            <a:endParaRPr lang="en-IN" dirty="0"/>
          </a:p>
          <a:p>
            <a:r>
              <a:rPr lang="en-IN" dirty="0"/>
              <a:t>✔ Interactive Dashboard</a:t>
            </a:r>
          </a:p>
          <a:p>
            <a:endParaRPr lang="en-IN" dirty="0"/>
          </a:p>
          <a:p>
            <a:r>
              <a:rPr lang="en-IN" dirty="0"/>
              <a:t>✔ Automated PDF Report Generation</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3"/>
          <a:stretch>
            <a:fillRect/>
          </a:stretch>
        </p:blipFill>
        <p:spPr>
          <a:xfrm>
            <a:off x="533400" y="1190625"/>
            <a:ext cx="5429250" cy="2512516"/>
          </a:xfrm>
          <a:prstGeom prst="rect">
            <a:avLst/>
          </a:prstGeom>
        </p:spPr>
      </p:pic>
      <p:pic>
        <p:nvPicPr>
          <p:cNvPr id="5" name="Picture 4" descr="image.png"/>
          <p:cNvPicPr>
            <a:picLocks noChangeAspect="1"/>
          </p:cNvPicPr>
          <p:nvPr/>
        </p:nvPicPr>
        <p:blipFill>
          <a:blip r:embed="rId4"/>
          <a:stretch>
            <a:fillRect/>
          </a:stretch>
        </p:blipFill>
        <p:spPr>
          <a:xfrm>
            <a:off x="533400" y="3874591"/>
            <a:ext cx="5429250" cy="2450009"/>
          </a:xfrm>
          <a:prstGeom prst="rect">
            <a:avLst/>
          </a:prstGeom>
        </p:spPr>
      </p:pic>
      <p:pic>
        <p:nvPicPr>
          <p:cNvPr id="8" name="Picture 7" descr="image.png"/>
          <p:cNvPicPr>
            <a:picLocks noChangeAspect="1"/>
          </p:cNvPicPr>
          <p:nvPr/>
        </p:nvPicPr>
        <p:blipFill>
          <a:blip r:embed="rId5"/>
          <a:stretch>
            <a:fillRect/>
          </a:stretch>
        </p:blipFill>
        <p:spPr>
          <a:xfrm>
            <a:off x="533400" y="6438900"/>
            <a:ext cx="11125200" cy="247650"/>
          </a:xfrm>
          <a:prstGeom prst="rect">
            <a:avLst/>
          </a:prstGeom>
        </p:spPr>
      </p:pic>
      <p:pic>
        <p:nvPicPr>
          <p:cNvPr id="9" name="Picture 8" descr="image.png"/>
          <p:cNvPicPr>
            <a:picLocks noChangeAspect="1"/>
          </p:cNvPicPr>
          <p:nvPr/>
        </p:nvPicPr>
        <p:blipFill>
          <a:blip r:embed="rId6"/>
          <a:stretch>
            <a:fillRect/>
          </a:stretch>
        </p:blipFill>
        <p:spPr>
          <a:xfrm>
            <a:off x="10934700" y="500062"/>
            <a:ext cx="723900" cy="247650"/>
          </a:xfrm>
          <a:prstGeom prst="rect">
            <a:avLst/>
          </a:prstGeom>
        </p:spPr>
      </p:pic>
      <p:sp>
        <p:nvSpPr>
          <p:cNvPr id="10" name="TextBox 9"/>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11" name="TextBox 10"/>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sp>
        <p:nvSpPr>
          <p:cNvPr id="13" name="TextBox 12"/>
          <p:cNvSpPr txBox="1"/>
          <p:nvPr/>
        </p:nvSpPr>
        <p:spPr>
          <a:xfrm>
            <a:off x="1114425" y="1419225"/>
            <a:ext cx="4850606" cy="238125"/>
          </a:xfrm>
          <a:prstGeom prst="rect">
            <a:avLst/>
          </a:prstGeom>
          <a:noFill/>
        </p:spPr>
        <p:txBody>
          <a:bodyPr wrap="square" lIns="0" tIns="0" rIns="0" bIns="0" anchor="ctr">
            <a:spAutoFit/>
          </a:bodyPr>
          <a:lstStyle/>
          <a:p>
            <a:pPr algn="l"/>
            <a:r>
              <a:rPr sz="1500" b="1" i="0" u="none">
                <a:solidFill>
                  <a:srgbClr val="0F2B5C"/>
                </a:solidFill>
                <a:latin typeface="Plus Jakarta Sans"/>
              </a:rPr>
              <a:t>Key Achievements</a:t>
            </a:r>
          </a:p>
        </p:txBody>
      </p:sp>
      <p:sp>
        <p:nvSpPr>
          <p:cNvPr id="14" name="TextBox 13"/>
          <p:cNvSpPr txBox="1"/>
          <p:nvPr/>
        </p:nvSpPr>
        <p:spPr>
          <a:xfrm>
            <a:off x="1085850" y="4103191"/>
            <a:ext cx="4880610" cy="238125"/>
          </a:xfrm>
          <a:prstGeom prst="rect">
            <a:avLst/>
          </a:prstGeom>
          <a:noFill/>
        </p:spPr>
        <p:txBody>
          <a:bodyPr wrap="square" lIns="0" tIns="0" rIns="0" bIns="0" anchor="ctr">
            <a:spAutoFit/>
          </a:bodyPr>
          <a:lstStyle/>
          <a:p>
            <a:r>
              <a:rPr lang="en-IN" sz="1500" b="1" dirty="0">
                <a:solidFill>
                  <a:srgbClr val="0F2B5C"/>
                </a:solidFill>
                <a:latin typeface="Plus Jakarta Sans"/>
              </a:rPr>
              <a:t>Demonstration</a:t>
            </a:r>
            <a:endParaRPr sz="1500" b="1" i="0" u="none" dirty="0">
              <a:solidFill>
                <a:srgbClr val="0F2B5C"/>
              </a:solidFill>
              <a:latin typeface="Plus Jakarta Sans"/>
            </a:endParaRPr>
          </a:p>
        </p:txBody>
      </p:sp>
      <p:pic>
        <p:nvPicPr>
          <p:cNvPr id="15" name="Picture 14" descr="image.png"/>
          <p:cNvPicPr>
            <a:picLocks noChangeAspect="1"/>
          </p:cNvPicPr>
          <p:nvPr/>
        </p:nvPicPr>
        <p:blipFill>
          <a:blip r:embed="rId7"/>
          <a:stretch>
            <a:fillRect/>
          </a:stretch>
        </p:blipFill>
        <p:spPr>
          <a:xfrm>
            <a:off x="800100" y="1443037"/>
            <a:ext cx="219075" cy="190500"/>
          </a:xfrm>
          <a:prstGeom prst="rect">
            <a:avLst/>
          </a:prstGeom>
        </p:spPr>
      </p:pic>
      <p:pic>
        <p:nvPicPr>
          <p:cNvPr id="22" name="Picture 21" descr="image.png"/>
          <p:cNvPicPr>
            <a:picLocks noChangeAspect="1"/>
          </p:cNvPicPr>
          <p:nvPr/>
        </p:nvPicPr>
        <p:blipFill>
          <a:blip r:embed="rId8"/>
          <a:stretch>
            <a:fillRect/>
          </a:stretch>
        </p:blipFill>
        <p:spPr>
          <a:xfrm>
            <a:off x="800100" y="4127003"/>
            <a:ext cx="190500" cy="190500"/>
          </a:xfrm>
          <a:prstGeom prst="rect">
            <a:avLst/>
          </a:prstGeom>
        </p:spPr>
      </p:pic>
      <p:sp>
        <p:nvSpPr>
          <p:cNvPr id="27" name="TextBox 26"/>
          <p:cNvSpPr txBox="1"/>
          <p:nvPr/>
        </p:nvSpPr>
        <p:spPr>
          <a:xfrm>
            <a:off x="533400" y="419100"/>
            <a:ext cx="11658600" cy="428625"/>
          </a:xfrm>
          <a:prstGeom prst="rect">
            <a:avLst/>
          </a:prstGeom>
          <a:noFill/>
        </p:spPr>
        <p:txBody>
          <a:bodyPr wrap="square" lIns="0" tIns="0" rIns="0" bIns="0" anchor="ctr">
            <a:spAutoFit/>
          </a:bodyPr>
          <a:lstStyle/>
          <a:p>
            <a:pPr algn="l"/>
            <a:r>
              <a:rPr sz="2550" b="0" i="0" u="none">
                <a:solidFill>
                  <a:srgbClr val="0F2B5C"/>
                </a:solidFill>
                <a:latin typeface="Plus Jakarta Sans ExtraBold"/>
              </a:rPr>
              <a:t>Outcome &amp; Demonstration</a:t>
            </a:r>
          </a:p>
        </p:txBody>
      </p:sp>
      <p:sp>
        <p:nvSpPr>
          <p:cNvPr id="28" name="Rectangle 27"/>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DDCDD13F-ED02-1ED8-D6BD-B0E47907764C}"/>
              </a:ext>
            </a:extLst>
          </p:cNvPr>
          <p:cNvSpPr txBox="1"/>
          <p:nvPr/>
        </p:nvSpPr>
        <p:spPr>
          <a:xfrm>
            <a:off x="1085850" y="1955363"/>
            <a:ext cx="5727017" cy="1754326"/>
          </a:xfrm>
          <a:prstGeom prst="rect">
            <a:avLst/>
          </a:prstGeom>
          <a:noFill/>
        </p:spPr>
        <p:txBody>
          <a:bodyPr wrap="none" rtlCol="0">
            <a:spAutoFit/>
          </a:bodyPr>
          <a:lstStyle/>
          <a:p>
            <a:pPr marL="285750" indent="-285750">
              <a:buFont typeface="Arial" panose="020B0604020202020204" pitchFamily="34" charset="0"/>
              <a:buChar char="•"/>
            </a:pPr>
            <a:r>
              <a:rPr lang="en-US" b="1" dirty="0"/>
              <a:t>Automated complete network security assessment</a:t>
            </a:r>
          </a:p>
          <a:p>
            <a:pPr marL="285750" indent="-285750">
              <a:buFont typeface="Arial" panose="020B0604020202020204" pitchFamily="34" charset="0"/>
              <a:buChar char="•"/>
            </a:pPr>
            <a:r>
              <a:rPr lang="en-US" b="1" dirty="0"/>
              <a:t>Integrated multiple security modules into one platform</a:t>
            </a:r>
          </a:p>
          <a:p>
            <a:pPr marL="285750" indent="-285750">
              <a:buFont typeface="Arial" panose="020B0604020202020204" pitchFamily="34" charset="0"/>
              <a:buChar char="•"/>
            </a:pPr>
            <a:r>
              <a:rPr lang="en-US" b="1" dirty="0"/>
              <a:t>AI-based risk analysis and reporting</a:t>
            </a:r>
          </a:p>
          <a:p>
            <a:pPr marL="285750" indent="-285750">
              <a:buFont typeface="Arial" panose="020B0604020202020204" pitchFamily="34" charset="0"/>
              <a:buChar char="•"/>
            </a:pPr>
            <a:r>
              <a:rPr lang="en-US" b="1" dirty="0"/>
              <a:t>Interactive dashboard for visualization</a:t>
            </a:r>
          </a:p>
          <a:p>
            <a:pPr marL="285750" indent="-285750">
              <a:buFont typeface="Arial" panose="020B0604020202020204" pitchFamily="34" charset="0"/>
              <a:buChar char="•"/>
            </a:pPr>
            <a:r>
              <a:rPr lang="en-US" b="1" dirty="0"/>
              <a:t>Professional PDF report generation</a:t>
            </a:r>
          </a:p>
          <a:p>
            <a:endParaRPr lang="en-IN" dirty="0"/>
          </a:p>
        </p:txBody>
      </p:sp>
      <p:sp>
        <p:nvSpPr>
          <p:cNvPr id="30" name="TextBox 29">
            <a:extLst>
              <a:ext uri="{FF2B5EF4-FFF2-40B4-BE49-F238E27FC236}">
                <a16:creationId xmlns:a16="http://schemas.microsoft.com/office/drawing/2014/main" id="{69DFCBFD-DEC7-16AB-466D-9DB2575F0028}"/>
              </a:ext>
            </a:extLst>
          </p:cNvPr>
          <p:cNvSpPr txBox="1"/>
          <p:nvPr/>
        </p:nvSpPr>
        <p:spPr>
          <a:xfrm>
            <a:off x="1114425" y="4401027"/>
            <a:ext cx="3445559" cy="2031325"/>
          </a:xfrm>
          <a:prstGeom prst="rect">
            <a:avLst/>
          </a:prstGeom>
          <a:noFill/>
        </p:spPr>
        <p:txBody>
          <a:bodyPr wrap="none" rtlCol="0">
            <a:spAutoFit/>
          </a:bodyPr>
          <a:lstStyle/>
          <a:p>
            <a:pPr marL="285750" indent="-285750">
              <a:buFont typeface="Arial" panose="020B0604020202020204" pitchFamily="34" charset="0"/>
              <a:buChar char="•"/>
            </a:pPr>
            <a:r>
              <a:rPr lang="en-US" b="1" dirty="0"/>
              <a:t>Network topology visualization</a:t>
            </a:r>
          </a:p>
          <a:p>
            <a:pPr marL="285750" indent="-285750">
              <a:buFont typeface="Arial" panose="020B0604020202020204" pitchFamily="34" charset="0"/>
              <a:buChar char="•"/>
            </a:pPr>
            <a:r>
              <a:rPr lang="en-US" b="1" dirty="0"/>
              <a:t>Active host discovery</a:t>
            </a:r>
          </a:p>
          <a:p>
            <a:pPr marL="285750" indent="-285750">
              <a:buFont typeface="Arial" panose="020B0604020202020204" pitchFamily="34" charset="0"/>
              <a:buChar char="•"/>
            </a:pPr>
            <a:r>
              <a:rPr lang="en-US" b="1" dirty="0"/>
              <a:t>Open port analysis</a:t>
            </a:r>
          </a:p>
          <a:p>
            <a:pPr marL="285750" indent="-285750">
              <a:buFont typeface="Arial" panose="020B0604020202020204" pitchFamily="34" charset="0"/>
              <a:buChar char="•"/>
            </a:pPr>
            <a:r>
              <a:rPr lang="en-US" b="1" dirty="0"/>
              <a:t>Firewall detection</a:t>
            </a:r>
          </a:p>
          <a:p>
            <a:pPr marL="285750" indent="-285750">
              <a:buFont typeface="Arial" panose="020B0604020202020204" pitchFamily="34" charset="0"/>
              <a:buChar char="•"/>
            </a:pPr>
            <a:r>
              <a:rPr lang="en-US" b="1" dirty="0"/>
              <a:t>IoT device identification</a:t>
            </a:r>
          </a:p>
          <a:p>
            <a:pPr marL="285750" indent="-285750">
              <a:buFont typeface="Arial" panose="020B0604020202020204" pitchFamily="34" charset="0"/>
              <a:buChar char="•"/>
            </a:pPr>
            <a:r>
              <a:rPr lang="en-US" b="1" dirty="0"/>
              <a:t>AI-generated risk scores</a:t>
            </a:r>
          </a:p>
          <a:p>
            <a:endParaRPr lang="en-IN"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90625"/>
            <a:ext cx="5429250" cy="4572000"/>
          </a:xfrm>
          <a:prstGeom prst="rect">
            <a:avLst/>
          </a:prstGeom>
        </p:spPr>
      </p:pic>
      <p:pic>
        <p:nvPicPr>
          <p:cNvPr id="4" name="Picture 3" descr="image.png"/>
          <p:cNvPicPr>
            <a:picLocks noChangeAspect="1"/>
          </p:cNvPicPr>
          <p:nvPr/>
        </p:nvPicPr>
        <p:blipFill>
          <a:blip r:embed="rId4"/>
          <a:stretch>
            <a:fillRect/>
          </a:stretch>
        </p:blipFill>
        <p:spPr>
          <a:xfrm>
            <a:off x="6229350" y="1190625"/>
            <a:ext cx="5429250" cy="4572000"/>
          </a:xfrm>
          <a:prstGeom prst="rect">
            <a:avLst/>
          </a:prstGeom>
        </p:spPr>
      </p:pic>
      <p:pic>
        <p:nvPicPr>
          <p:cNvPr id="5" name="Picture 4" descr="image.png"/>
          <p:cNvPicPr>
            <a:picLocks noChangeAspect="1"/>
          </p:cNvPicPr>
          <p:nvPr/>
        </p:nvPicPr>
        <p:blipFill>
          <a:blip r:embed="rId5"/>
          <a:stretch>
            <a:fillRect/>
          </a:stretch>
        </p:blipFill>
        <p:spPr>
          <a:xfrm>
            <a:off x="533400" y="6438900"/>
            <a:ext cx="11125200" cy="247650"/>
          </a:xfrm>
          <a:prstGeom prst="rect">
            <a:avLst/>
          </a:prstGeom>
        </p:spPr>
      </p:pic>
      <p:pic>
        <p:nvPicPr>
          <p:cNvPr id="6" name="Picture 5" descr="image.png"/>
          <p:cNvPicPr>
            <a:picLocks noChangeAspect="1"/>
          </p:cNvPicPr>
          <p:nvPr/>
        </p:nvPicPr>
        <p:blipFill>
          <a:blip r:embed="rId6"/>
          <a:stretch>
            <a:fillRect/>
          </a:stretch>
        </p:blipFill>
        <p:spPr>
          <a:xfrm>
            <a:off x="10934700" y="500062"/>
            <a:ext cx="723900" cy="247650"/>
          </a:xfrm>
          <a:prstGeom prst="rect">
            <a:avLst/>
          </a:prstGeom>
        </p:spPr>
      </p:pic>
      <p:sp>
        <p:nvSpPr>
          <p:cNvPr id="7" name="TextBox 6"/>
          <p:cNvSpPr txBox="1"/>
          <p:nvPr/>
        </p:nvSpPr>
        <p:spPr>
          <a:xfrm>
            <a:off x="533400" y="6543675"/>
            <a:ext cx="2181225" cy="142875"/>
          </a:xfrm>
          <a:prstGeom prst="rect">
            <a:avLst/>
          </a:prstGeom>
          <a:noFill/>
        </p:spPr>
        <p:txBody>
          <a:bodyPr wrap="square" lIns="0" tIns="0" rIns="0" bIns="0" anchor="t">
            <a:spAutoFit/>
          </a:bodyPr>
          <a:lstStyle/>
          <a:p>
            <a:pPr algn="l"/>
            <a:r>
              <a:rPr sz="900" b="0" i="0" u="none">
                <a:solidFill>
                  <a:srgbClr val="64748B"/>
                </a:solidFill>
                <a:latin typeface="Inter"/>
              </a:rPr>
              <a:t>Bootcamp on Intelligent Cyber Forensics</a:t>
            </a:r>
          </a:p>
        </p:txBody>
      </p:sp>
      <p:sp>
        <p:nvSpPr>
          <p:cNvPr id="8" name="TextBox 7"/>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sp>
        <p:nvSpPr>
          <p:cNvPr id="9" name="TextBox 8"/>
          <p:cNvSpPr txBox="1"/>
          <p:nvPr/>
        </p:nvSpPr>
        <p:spPr>
          <a:xfrm>
            <a:off x="1085850" y="1419225"/>
            <a:ext cx="4880610" cy="238125"/>
          </a:xfrm>
          <a:prstGeom prst="rect">
            <a:avLst/>
          </a:prstGeom>
          <a:noFill/>
        </p:spPr>
        <p:txBody>
          <a:bodyPr wrap="square" lIns="0" tIns="0" rIns="0" bIns="0" anchor="ctr">
            <a:spAutoFit/>
          </a:bodyPr>
          <a:lstStyle/>
          <a:p>
            <a:pPr algn="l"/>
            <a:r>
              <a:rPr sz="1500" b="1" i="0" u="none">
                <a:solidFill>
                  <a:srgbClr val="0F2B5C"/>
                </a:solidFill>
                <a:latin typeface="Plus Jakarta Sans"/>
              </a:rPr>
              <a:t>Current Limitations</a:t>
            </a:r>
          </a:p>
        </p:txBody>
      </p:sp>
      <p:sp>
        <p:nvSpPr>
          <p:cNvPr id="11" name="TextBox 10"/>
          <p:cNvSpPr txBox="1"/>
          <p:nvPr/>
        </p:nvSpPr>
        <p:spPr>
          <a:xfrm>
            <a:off x="6781800" y="1419225"/>
            <a:ext cx="4880610" cy="238125"/>
          </a:xfrm>
          <a:prstGeom prst="rect">
            <a:avLst/>
          </a:prstGeom>
          <a:noFill/>
        </p:spPr>
        <p:txBody>
          <a:bodyPr wrap="square" lIns="0" tIns="0" rIns="0" bIns="0" anchor="ctr">
            <a:spAutoFit/>
          </a:bodyPr>
          <a:lstStyle/>
          <a:p>
            <a:pPr algn="l"/>
            <a:r>
              <a:rPr sz="1500" b="1" i="0" u="none">
                <a:solidFill>
                  <a:srgbClr val="0F2B5C"/>
                </a:solidFill>
                <a:latin typeface="Plus Jakarta Sans"/>
              </a:rPr>
              <a:t>Future Scope &amp; Deployment</a:t>
            </a:r>
          </a:p>
        </p:txBody>
      </p:sp>
      <p:pic>
        <p:nvPicPr>
          <p:cNvPr id="13" name="Picture 12" descr="image.png"/>
          <p:cNvPicPr>
            <a:picLocks noChangeAspect="1"/>
          </p:cNvPicPr>
          <p:nvPr/>
        </p:nvPicPr>
        <p:blipFill>
          <a:blip r:embed="rId7"/>
          <a:stretch>
            <a:fillRect/>
          </a:stretch>
        </p:blipFill>
        <p:spPr>
          <a:xfrm>
            <a:off x="800100" y="1443037"/>
            <a:ext cx="190500" cy="190500"/>
          </a:xfrm>
          <a:prstGeom prst="rect">
            <a:avLst/>
          </a:prstGeom>
        </p:spPr>
      </p:pic>
      <p:pic>
        <p:nvPicPr>
          <p:cNvPr id="20" name="Picture 19" descr="image.png"/>
          <p:cNvPicPr>
            <a:picLocks noChangeAspect="1"/>
          </p:cNvPicPr>
          <p:nvPr/>
        </p:nvPicPr>
        <p:blipFill>
          <a:blip r:embed="rId8"/>
          <a:stretch>
            <a:fillRect/>
          </a:stretch>
        </p:blipFill>
        <p:spPr>
          <a:xfrm>
            <a:off x="6496050" y="1443037"/>
            <a:ext cx="190500" cy="190500"/>
          </a:xfrm>
          <a:prstGeom prst="rect">
            <a:avLst/>
          </a:prstGeom>
        </p:spPr>
      </p:pic>
      <p:sp>
        <p:nvSpPr>
          <p:cNvPr id="27" name="TextBox 26"/>
          <p:cNvSpPr txBox="1"/>
          <p:nvPr/>
        </p:nvSpPr>
        <p:spPr>
          <a:xfrm>
            <a:off x="533400" y="419100"/>
            <a:ext cx="11658600" cy="428625"/>
          </a:xfrm>
          <a:prstGeom prst="rect">
            <a:avLst/>
          </a:prstGeom>
          <a:noFill/>
        </p:spPr>
        <p:txBody>
          <a:bodyPr wrap="square" lIns="0" tIns="0" rIns="0" bIns="0" anchor="ctr">
            <a:spAutoFit/>
          </a:bodyPr>
          <a:lstStyle/>
          <a:p>
            <a:pPr algn="l"/>
            <a:r>
              <a:rPr sz="2550" b="0" i="0" u="none" dirty="0">
                <a:solidFill>
                  <a:srgbClr val="0F2B5C"/>
                </a:solidFill>
                <a:latin typeface="Plus Jakarta Sans ExtraBold"/>
              </a:rPr>
              <a:t>Limitations &amp; Future Scope</a:t>
            </a:r>
          </a:p>
        </p:txBody>
      </p:sp>
      <p:sp>
        <p:nvSpPr>
          <p:cNvPr id="28" name="Rectangle 27"/>
          <p:cNvSpPr/>
          <p:nvPr/>
        </p:nvSpPr>
        <p:spPr>
          <a:xfrm>
            <a:off x="533400" y="942975"/>
            <a:ext cx="11125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ED4241E3-A660-E7DD-5AD0-B96D3DF65B2D}"/>
              </a:ext>
            </a:extLst>
          </p:cNvPr>
          <p:cNvSpPr txBox="1"/>
          <p:nvPr/>
        </p:nvSpPr>
        <p:spPr>
          <a:xfrm>
            <a:off x="990600" y="2007840"/>
            <a:ext cx="5205528" cy="1200329"/>
          </a:xfrm>
          <a:prstGeom prst="rect">
            <a:avLst/>
          </a:prstGeom>
          <a:noFill/>
        </p:spPr>
        <p:txBody>
          <a:bodyPr wrap="none" rtlCol="0">
            <a:spAutoFit/>
          </a:bodyPr>
          <a:lstStyle/>
          <a:p>
            <a:pPr marL="285750" indent="-285750">
              <a:buFont typeface="Arial" panose="020B0604020202020204" pitchFamily="34" charset="0"/>
              <a:buChar char="•"/>
            </a:pPr>
            <a:r>
              <a:rPr lang="en-US" b="1" dirty="0"/>
              <a:t>Some scans require administrator/root privileges.</a:t>
            </a:r>
          </a:p>
          <a:p>
            <a:pPr marL="285750" indent="-285750">
              <a:buFont typeface="Arial" panose="020B0604020202020204" pitchFamily="34" charset="0"/>
              <a:buChar char="•"/>
            </a:pPr>
            <a:r>
              <a:rPr lang="en-US" b="1" dirty="0"/>
              <a:t>Scan performance depends on network size.</a:t>
            </a:r>
          </a:p>
          <a:p>
            <a:pPr marL="285750" indent="-285750">
              <a:buFont typeface="Arial" panose="020B0604020202020204" pitchFamily="34" charset="0"/>
              <a:buChar char="•"/>
            </a:pPr>
            <a:r>
              <a:rPr lang="en-US" b="1" dirty="0"/>
              <a:t>Wireless analysis requires compatible hardware.</a:t>
            </a:r>
          </a:p>
          <a:p>
            <a:pPr marL="285750" indent="-285750">
              <a:buFont typeface="Arial" panose="020B0604020202020204" pitchFamily="34" charset="0"/>
              <a:buChar char="•"/>
            </a:pPr>
            <a:r>
              <a:rPr lang="en-US" b="1" dirty="0"/>
              <a:t>External threat intelligence integration is limited</a:t>
            </a:r>
            <a:r>
              <a:rPr lang="en-US" sz="1200" dirty="0"/>
              <a:t>.</a:t>
            </a:r>
            <a:endParaRPr lang="en-IN" sz="1200" dirty="0"/>
          </a:p>
        </p:txBody>
      </p:sp>
      <p:sp>
        <p:nvSpPr>
          <p:cNvPr id="30" name="TextBox 29">
            <a:extLst>
              <a:ext uri="{FF2B5EF4-FFF2-40B4-BE49-F238E27FC236}">
                <a16:creationId xmlns:a16="http://schemas.microsoft.com/office/drawing/2014/main" id="{C20B2087-C27C-71B9-9061-C30E029374FB}"/>
              </a:ext>
            </a:extLst>
          </p:cNvPr>
          <p:cNvSpPr txBox="1"/>
          <p:nvPr/>
        </p:nvSpPr>
        <p:spPr>
          <a:xfrm>
            <a:off x="6719772" y="1884700"/>
            <a:ext cx="3754233" cy="2031325"/>
          </a:xfrm>
          <a:prstGeom prst="rect">
            <a:avLst/>
          </a:prstGeom>
          <a:noFill/>
        </p:spPr>
        <p:txBody>
          <a:bodyPr wrap="none" rtlCol="0">
            <a:spAutoFit/>
          </a:bodyPr>
          <a:lstStyle/>
          <a:p>
            <a:pPr marL="285750" indent="-285750">
              <a:buFont typeface="Arial" panose="020B0604020202020204" pitchFamily="34" charset="0"/>
              <a:buChar char="•"/>
            </a:pPr>
            <a:r>
              <a:rPr lang="en-US" b="1" dirty="0"/>
              <a:t>SIEM integration</a:t>
            </a:r>
          </a:p>
          <a:p>
            <a:pPr marL="285750" indent="-285750">
              <a:buFont typeface="Arial" panose="020B0604020202020204" pitchFamily="34" charset="0"/>
              <a:buChar char="•"/>
            </a:pPr>
            <a:r>
              <a:rPr lang="en-US" b="1" dirty="0"/>
              <a:t>Continuous network monitoring</a:t>
            </a:r>
          </a:p>
          <a:p>
            <a:pPr marL="285750" indent="-285750">
              <a:buFont typeface="Arial" panose="020B0604020202020204" pitchFamily="34" charset="0"/>
              <a:buChar char="•"/>
            </a:pPr>
            <a:r>
              <a:rPr lang="en-US" b="1" dirty="0"/>
              <a:t>Cloud deployment</a:t>
            </a:r>
          </a:p>
          <a:p>
            <a:pPr marL="285750" indent="-285750">
              <a:buFont typeface="Arial" panose="020B0604020202020204" pitchFamily="34" charset="0"/>
              <a:buChar char="•"/>
            </a:pPr>
            <a:r>
              <a:rPr lang="en-US" b="1" dirty="0"/>
              <a:t>Multi-user access</a:t>
            </a:r>
          </a:p>
          <a:p>
            <a:pPr marL="285750" indent="-285750">
              <a:buFont typeface="Arial" panose="020B0604020202020204" pitchFamily="34" charset="0"/>
              <a:buChar char="•"/>
            </a:pPr>
            <a:r>
              <a:rPr lang="en-US" b="1" dirty="0"/>
              <a:t>Real-time threat intelligence feeds</a:t>
            </a:r>
          </a:p>
          <a:p>
            <a:pPr marL="285750" indent="-285750">
              <a:buFont typeface="Arial" panose="020B0604020202020204" pitchFamily="34" charset="0"/>
              <a:buChar char="•"/>
            </a:pPr>
            <a:r>
              <a:rPr lang="en-US" b="1" dirty="0"/>
              <a:t>LLM-powered security assistant</a:t>
            </a:r>
          </a:p>
          <a:p>
            <a:pPr marL="285750" indent="-285750">
              <a:buFont typeface="Arial" panose="020B0604020202020204" pitchFamily="34" charset="0"/>
              <a:buChar char="•"/>
            </a:pPr>
            <a:r>
              <a:rPr lang="en-US" b="1" dirty="0"/>
              <a:t>Scope for real-world deployment</a:t>
            </a:r>
            <a:endParaRPr lang="en-IN"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3"/>
          <a:stretch>
            <a:fillRect/>
          </a:stretch>
        </p:blipFill>
        <p:spPr>
          <a:xfrm>
            <a:off x="533400" y="6438900"/>
            <a:ext cx="11125200" cy="247650"/>
          </a:xfrm>
          <a:prstGeom prst="rect">
            <a:avLst/>
          </a:prstGeom>
        </p:spPr>
      </p:pic>
      <p:sp>
        <p:nvSpPr>
          <p:cNvPr id="5" name="TextBox 4"/>
          <p:cNvSpPr txBox="1"/>
          <p:nvPr/>
        </p:nvSpPr>
        <p:spPr>
          <a:xfrm>
            <a:off x="9020175" y="481012"/>
            <a:ext cx="2638425" cy="152400"/>
          </a:xfrm>
          <a:prstGeom prst="rect">
            <a:avLst/>
          </a:prstGeom>
          <a:noFill/>
        </p:spPr>
        <p:txBody>
          <a:bodyPr wrap="square" lIns="0" tIns="0" rIns="0" bIns="0" anchor="t">
            <a:spAutoFit/>
          </a:bodyPr>
          <a:lstStyle/>
          <a:p>
            <a:pPr algn="l"/>
            <a:r>
              <a:rPr sz="975" b="0" i="0" u="none">
                <a:solidFill>
                  <a:srgbClr val="64748B"/>
                </a:solidFill>
                <a:latin typeface="Inter SemiBold"/>
              </a:rPr>
              <a:t>GUJARAT TECHNOLOGICAL UNIVERSITY</a:t>
            </a:r>
          </a:p>
        </p:txBody>
      </p:sp>
      <p:sp>
        <p:nvSpPr>
          <p:cNvPr id="6" name="TextBox 5"/>
          <p:cNvSpPr txBox="1"/>
          <p:nvPr/>
        </p:nvSpPr>
        <p:spPr>
          <a:xfrm>
            <a:off x="1419702" y="2875002"/>
            <a:ext cx="8573770" cy="1107996"/>
          </a:xfrm>
          <a:prstGeom prst="rect">
            <a:avLst/>
          </a:prstGeom>
          <a:noFill/>
        </p:spPr>
        <p:txBody>
          <a:bodyPr wrap="square" lIns="0" tIns="0" rIns="0" bIns="0" anchor="t">
            <a:spAutoFit/>
          </a:bodyPr>
          <a:lstStyle/>
          <a:p>
            <a:pPr algn="ctr"/>
            <a:r>
              <a:rPr sz="7200" b="0" i="0" u="none" dirty="0">
                <a:solidFill>
                  <a:srgbClr val="0F2B5C"/>
                </a:solidFill>
                <a:latin typeface="MV Boli" panose="02000500030200090000" pitchFamily="2" charset="0"/>
                <a:cs typeface="MV Boli" panose="02000500030200090000" pitchFamily="2" charset="0"/>
              </a:rPr>
              <a:t>Thank You!</a:t>
            </a:r>
          </a:p>
        </p:txBody>
      </p:sp>
      <p:sp>
        <p:nvSpPr>
          <p:cNvPr id="7" name="TextBox 6"/>
          <p:cNvSpPr txBox="1"/>
          <p:nvPr/>
        </p:nvSpPr>
        <p:spPr>
          <a:xfrm>
            <a:off x="2247899" y="5191373"/>
            <a:ext cx="7143750" cy="885825"/>
          </a:xfrm>
          <a:prstGeom prst="rect">
            <a:avLst/>
          </a:prstGeom>
          <a:noFill/>
        </p:spPr>
        <p:txBody>
          <a:bodyPr wrap="square" lIns="0" tIns="0" rIns="0" bIns="0" anchor="t">
            <a:spAutoFit/>
          </a:bodyPr>
          <a:lstStyle/>
          <a:p>
            <a:pPr algn="ctr">
              <a:lnSpc>
                <a:spcPts val="2325"/>
              </a:lnSpc>
            </a:pPr>
            <a:r>
              <a:rPr sz="1500" b="0" i="0" u="none" dirty="0">
                <a:solidFill>
                  <a:srgbClr val="475569"/>
                </a:solidFill>
                <a:latin typeface="Inter"/>
              </a:rPr>
              <a:t>AI-powered cyber forensics significantly enhances incident investigation efficiency and accuracy, empowering security teams to respond to modern threats at scale.</a:t>
            </a:r>
          </a:p>
        </p:txBody>
      </p:sp>
      <p:sp>
        <p:nvSpPr>
          <p:cNvPr id="8" name="TextBox 7"/>
          <p:cNvSpPr txBox="1"/>
          <p:nvPr/>
        </p:nvSpPr>
        <p:spPr>
          <a:xfrm>
            <a:off x="533400" y="6543675"/>
            <a:ext cx="971550" cy="142875"/>
          </a:xfrm>
          <a:prstGeom prst="rect">
            <a:avLst/>
          </a:prstGeom>
          <a:noFill/>
        </p:spPr>
        <p:txBody>
          <a:bodyPr wrap="square" lIns="0" tIns="0" rIns="0" bIns="0" anchor="t">
            <a:spAutoFit/>
          </a:bodyPr>
          <a:lstStyle/>
          <a:p>
            <a:pPr algn="l"/>
            <a:r>
              <a:rPr sz="900" b="0" i="0" u="none">
                <a:solidFill>
                  <a:srgbClr val="64748B"/>
                </a:solidFill>
                <a:latin typeface="Inter"/>
              </a:rPr>
              <a:t>Final Presentation</a:t>
            </a:r>
          </a:p>
        </p:txBody>
      </p:sp>
      <p:sp>
        <p:nvSpPr>
          <p:cNvPr id="9" name="TextBox 8"/>
          <p:cNvSpPr txBox="1"/>
          <p:nvPr/>
        </p:nvSpPr>
        <p:spPr>
          <a:xfrm>
            <a:off x="5295900" y="6543675"/>
            <a:ext cx="809625" cy="142875"/>
          </a:xfrm>
          <a:prstGeom prst="rect">
            <a:avLst/>
          </a:prstGeom>
          <a:noFill/>
        </p:spPr>
        <p:txBody>
          <a:bodyPr wrap="square" lIns="0" tIns="0" rIns="0" bIns="0" anchor="t">
            <a:spAutoFit/>
          </a:bodyPr>
          <a:lstStyle/>
          <a:p>
            <a:pPr algn="l"/>
            <a:r>
              <a:rPr sz="900" b="0" i="0" u="none">
                <a:solidFill>
                  <a:srgbClr val="64748B"/>
                </a:solidFill>
                <a:latin typeface="Inter"/>
              </a:rPr>
              <a:t>24th July 2026</a:t>
            </a:r>
          </a:p>
        </p:txBody>
      </p:sp>
      <p:sp>
        <p:nvSpPr>
          <p:cNvPr id="10" name="TextBox 9"/>
          <p:cNvSpPr txBox="1"/>
          <p:nvPr/>
        </p:nvSpPr>
        <p:spPr>
          <a:xfrm>
            <a:off x="9896475" y="6543675"/>
            <a:ext cx="1762125" cy="142875"/>
          </a:xfrm>
          <a:prstGeom prst="rect">
            <a:avLst/>
          </a:prstGeom>
          <a:noFill/>
        </p:spPr>
        <p:txBody>
          <a:bodyPr wrap="square" lIns="0" tIns="0" rIns="0" bIns="0" anchor="t">
            <a:spAutoFit/>
          </a:bodyPr>
          <a:lstStyle/>
          <a:p>
            <a:pPr algn="l"/>
            <a:r>
              <a:rPr sz="900" b="0" i="0" u="none">
                <a:solidFill>
                  <a:srgbClr val="64748B"/>
                </a:solidFill>
                <a:latin typeface="Inter"/>
              </a:rPr>
              <a:t>Gujarat Technological University</a:t>
            </a:r>
          </a:p>
        </p:txBody>
      </p:sp>
      <p:pic>
        <p:nvPicPr>
          <p:cNvPr id="11" name="Picture 10" descr="image.png"/>
          <p:cNvPicPr>
            <a:picLocks noChangeAspect="1"/>
          </p:cNvPicPr>
          <p:nvPr/>
        </p:nvPicPr>
        <p:blipFill>
          <a:blip r:embed="rId4"/>
          <a:stretch>
            <a:fillRect/>
          </a:stretch>
        </p:blipFill>
        <p:spPr>
          <a:xfrm>
            <a:off x="533400" y="419100"/>
            <a:ext cx="738187" cy="276225"/>
          </a:xfrm>
          <a:prstGeom prst="rect">
            <a:avLst/>
          </a:prstGeom>
        </p:spPr>
      </p:pic>
      <p:pic>
        <p:nvPicPr>
          <p:cNvPr id="12" name="Picture 11" descr="image.png"/>
          <p:cNvPicPr>
            <a:picLocks noChangeAspect="1"/>
          </p:cNvPicPr>
          <p:nvPr/>
        </p:nvPicPr>
        <p:blipFill>
          <a:blip r:embed="rId5"/>
          <a:stretch>
            <a:fillRect/>
          </a:stretch>
        </p:blipFill>
        <p:spPr>
          <a:xfrm>
            <a:off x="1404937" y="423862"/>
            <a:ext cx="1685925" cy="266700"/>
          </a:xfrm>
          <a:prstGeom prst="rect">
            <a:avLst/>
          </a:prstGeom>
        </p:spPr>
      </p:pic>
      <p:pic>
        <p:nvPicPr>
          <p:cNvPr id="15" name="Picture 14" descr="image.png"/>
          <p:cNvPicPr>
            <a:picLocks noChangeAspect="1"/>
          </p:cNvPicPr>
          <p:nvPr/>
        </p:nvPicPr>
        <p:blipFill>
          <a:blip r:embed="rId6"/>
          <a:stretch>
            <a:fillRect/>
          </a:stretch>
        </p:blipFill>
        <p:spPr>
          <a:xfrm>
            <a:off x="559594" y="481012"/>
            <a:ext cx="176212" cy="133350"/>
          </a:xfrm>
          <a:prstGeom prst="rect">
            <a:avLst/>
          </a:prstGeom>
        </p:spPr>
      </p:pic>
      <p:pic>
        <p:nvPicPr>
          <p:cNvPr id="16" name="Picture 15" descr="image.png"/>
          <p:cNvPicPr>
            <a:picLocks noChangeAspect="1"/>
          </p:cNvPicPr>
          <p:nvPr/>
        </p:nvPicPr>
        <p:blipFill>
          <a:blip r:embed="rId7"/>
          <a:stretch>
            <a:fillRect/>
          </a:stretch>
        </p:blipFill>
        <p:spPr>
          <a:xfrm>
            <a:off x="1419702" y="495300"/>
            <a:ext cx="138112" cy="1381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110</TotalTime>
  <Words>671</Words>
  <Application>Microsoft Office PowerPoint</Application>
  <PresentationFormat>Widescreen</PresentationFormat>
  <Paragraphs>176</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Inter</vt:lpstr>
      <vt:lpstr>Inter SemiBold</vt:lpstr>
      <vt:lpstr>MV Boli</vt:lpstr>
      <vt:lpstr>Plus Jakarta Sans</vt:lpstr>
      <vt:lpstr>Plus Jakarta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Preetansh Gohil</cp:lastModifiedBy>
  <cp:revision>2</cp:revision>
  <dcterms:created xsi:type="dcterms:W3CDTF">2013-01-27T09:14:16Z</dcterms:created>
  <dcterms:modified xsi:type="dcterms:W3CDTF">2026-07-23T18:16:04Z</dcterms:modified>
  <cp:category/>
</cp:coreProperties>
</file>